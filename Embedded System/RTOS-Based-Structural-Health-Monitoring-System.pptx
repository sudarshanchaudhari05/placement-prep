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3" r:id="rId6"/>
    <p:sldId id="264" r:id="rId7"/>
    <p:sldId id="266" r:id="rId8"/>
  </p:sldIdLst>
  <p:sldSz cx="9144000" cy="5143500" type="screen16x9"/>
  <p:notesSz cx="5143500" cy="9144000"/>
  <p:embeddedFontLst>
    <p:embeddedFont>
      <p:font typeface="Inter" panose="020B0604020202020204" charset="0"/>
      <p:regular r:id="rId10"/>
    </p:embeddedFont>
    <p:embeddedFont>
      <p:font typeface="Inter 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0" autoAdjust="0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2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315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6950F-BF00-2C3C-0B26-E4D29A361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BE354-F0F8-36B0-B473-54DBC60A3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A0B84-85B0-5311-82D7-78D0ECFC4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E352A-1E3D-42C1-05A2-EE76BFBB6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407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78999" y="642491"/>
            <a:ext cx="7329621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RTOS-Based Structural Health Monitoring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78999" y="1699660"/>
            <a:ext cx="5179963" cy="403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Using Vibration Signature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78999" y="2324486"/>
            <a:ext cx="327399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EMBEDDED SYSTEMS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01230F-511D-D41C-0325-3A26F185AF60}"/>
              </a:ext>
            </a:extLst>
          </p:cNvPr>
          <p:cNvSpPr/>
          <p:nvPr/>
        </p:nvSpPr>
        <p:spPr>
          <a:xfrm>
            <a:off x="7907215" y="4718538"/>
            <a:ext cx="1236785" cy="424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Structural health monitoring of suspension bridges with features affected  by changing wind speed - ScienceDirect">
            <a:extLst>
              <a:ext uri="{FF2B5EF4-FFF2-40B4-BE49-F238E27FC236}">
                <a16:creationId xmlns:a16="http://schemas.microsoft.com/office/drawing/2014/main" id="{4B83855D-414B-32ED-DED3-22C1B2B7F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521" y="2858430"/>
            <a:ext cx="4046018" cy="15132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784994"/>
            <a:ext cx="7153189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 with Traditional Inspection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1236860" y="1769780"/>
            <a:ext cx="2290465" cy="1279996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83381" y="1916301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Periodic &amp; Manual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383381" y="2222813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Inspections are infrequent — damage can develop undetected between cycles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16601" y="1756024"/>
            <a:ext cx="2290539" cy="1279996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58359" y="1907307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Cost of Failure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758359" y="2213819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Undetected structural damage leads to catastrophic failures and massive economic loss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10618" y="3328893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57139" y="3475414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Continuous Monitoring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357139" y="3781926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methods lack real-time, automated, low-cost early-warning capability</a:t>
            </a:r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A310B1-AC30-BE8D-427A-C24C33038FB9}"/>
              </a:ext>
            </a:extLst>
          </p:cNvPr>
          <p:cNvSpPr/>
          <p:nvPr/>
        </p:nvSpPr>
        <p:spPr>
          <a:xfrm>
            <a:off x="7907215" y="4718538"/>
            <a:ext cx="1236785" cy="424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101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Project Objective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26071"/>
            <a:ext cx="5177582" cy="16179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606897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What We Are Building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024339" y="1970112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 </a:t>
            </a:r>
            <a:r>
              <a:rPr lang="en-US" sz="1400" b="1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low-cost, real-time, RTOS-based</a:t>
            </a:r>
            <a:r>
              <a:rPr lang="en-US" sz="14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system that detects early-stage structural damage through </a:t>
            </a:r>
            <a:r>
              <a:rPr lang="en-US" sz="1400" b="1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vibration signature analysis</a:t>
            </a:r>
            <a:r>
              <a:rPr lang="en-US" sz="14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3370064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3362995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Multi-point vibration sensing using ADXL345 accelerometers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3684" y="3370064"/>
            <a:ext cx="212601" cy="2126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21250" y="3362995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FFT-based frequency domain analysis on ESP32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4107210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6816" y="4100140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Deterministic scheduling via FreeRTOS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3684" y="4107210"/>
            <a:ext cx="212601" cy="21260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121250" y="4100140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OLED + WiFi alert output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056762-3CD9-A05A-99AF-D9ED2B1FCD73}"/>
              </a:ext>
            </a:extLst>
          </p:cNvPr>
          <p:cNvSpPr/>
          <p:nvPr/>
        </p:nvSpPr>
        <p:spPr>
          <a:xfrm>
            <a:off x="7907215" y="4699489"/>
            <a:ext cx="1236785" cy="424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System Architecture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57" y="654264"/>
            <a:ext cx="7272486" cy="3974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4731" y="2544213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3× ADXL345 Nodes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149912" y="2403723"/>
            <a:ext cx="1685107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TCA9548A Multiplexer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71232" y="2412003"/>
            <a:ext cx="1685107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STM32 FFT Processing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6119" y="469597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kern="0" spc="-1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spatially distributed accelerometer nodes feed synchronised vibration data through an I2C multiplexer to the ESP32, which runs FFT analysis and triggers alerts upon detecting signature deviations.</a:t>
            </a:r>
            <a:endParaRPr lang="en-US" sz="5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DEBB2D-250E-DFA3-7F52-315D02FEDD4A}"/>
              </a:ext>
            </a:extLst>
          </p:cNvPr>
          <p:cNvSpPr/>
          <p:nvPr/>
        </p:nvSpPr>
        <p:spPr>
          <a:xfrm>
            <a:off x="7907215" y="4724400"/>
            <a:ext cx="1236785" cy="424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171"/>
            <a:ext cx="8151763" cy="25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8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Hardware Components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74576"/>
            <a:ext cx="4438002" cy="33285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08418" y="786189"/>
            <a:ext cx="3098452" cy="1576061"/>
          </a:xfrm>
          <a:prstGeom prst="roundRect">
            <a:avLst>
              <a:gd name="adj" fmla="val 273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08418" y="963146"/>
            <a:ext cx="3098452" cy="45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208418" y="1137721"/>
            <a:ext cx="3098452" cy="45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208418" y="1415732"/>
            <a:ext cx="3098452" cy="45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208418" y="1590307"/>
            <a:ext cx="3098452" cy="45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208418" y="1764883"/>
            <a:ext cx="3098452" cy="45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295184" y="824141"/>
            <a:ext cx="1877529" cy="12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b="1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Component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651976" y="824141"/>
            <a:ext cx="1260040" cy="12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b="1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Role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466066" y="824141"/>
            <a:ext cx="836042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b="1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Qty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295184" y="998717"/>
            <a:ext cx="1877529" cy="12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STM32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651976" y="998717"/>
            <a:ext cx="1260040" cy="12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Main MCU 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466066" y="998717"/>
            <a:ext cx="836042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295184" y="1173292"/>
            <a:ext cx="1877529" cy="12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ADXL345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651975" y="1173292"/>
            <a:ext cx="739835" cy="258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3-axis accelerometer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466066" y="1173292"/>
            <a:ext cx="836042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3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295184" y="1451303"/>
            <a:ext cx="1877529" cy="12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TCA9548A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651976" y="1451303"/>
            <a:ext cx="1260040" cy="12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I2C multiplexer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466066" y="1451303"/>
            <a:ext cx="836042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295184" y="1625878"/>
            <a:ext cx="1877529" cy="12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0.96" OLED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651976" y="1625878"/>
            <a:ext cx="1260040" cy="12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Local display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466066" y="1625878"/>
            <a:ext cx="836042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295184" y="1800454"/>
            <a:ext cx="1877529" cy="12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Cantilever Beam Rig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651975" y="1800454"/>
            <a:ext cx="739835" cy="258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Scaled test model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466066" y="1800454"/>
            <a:ext cx="836042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kern="0" spc="-13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5474671" y="2161660"/>
            <a:ext cx="2832199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kern="0" spc="-13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Estimated total cost: </a:t>
            </a:r>
            <a:r>
              <a:rPr lang="en-US" sz="800" b="1" kern="0" spc="-13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₹1,800 – ₹2,200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36E296-5D99-6DD5-58DC-E27A28BCFEAC}"/>
              </a:ext>
            </a:extLst>
          </p:cNvPr>
          <p:cNvSpPr/>
          <p:nvPr/>
        </p:nvSpPr>
        <p:spPr>
          <a:xfrm>
            <a:off x="7907215" y="4718538"/>
            <a:ext cx="1236785" cy="424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Expected Results: FFT Signature Comparison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42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Interpreting the Shift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 </a:t>
            </a:r>
            <a:r>
              <a:rPr lang="en-US" sz="1100" b="1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damaged structure</a:t>
            </a:r>
            <a:r>
              <a:rPr lang="en-US" sz="11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exhibits: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49701" y="2194694"/>
            <a:ext cx="3902943" cy="779562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Shift in dominant natural frequency peak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Emergence of new harmonic components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Reduced amplitude at primary resonance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3348782"/>
            <a:ext cx="177180" cy="1417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0398" y="3296692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kern="0" spc="-22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Detection accuracy target: </a:t>
            </a:r>
            <a:r>
              <a:rPr lang="en-US" sz="1200" b="1" kern="0" spc="-22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&gt;90%</a:t>
            </a:r>
            <a:r>
              <a:rPr lang="en-US" sz="1200" kern="0" spc="-22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· Response latency: </a:t>
            </a:r>
            <a:r>
              <a:rPr lang="en-US" sz="1200" b="1" kern="0" spc="-22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&lt;100 ms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3668E6-5939-B590-D6CC-03A5BD659E47}"/>
              </a:ext>
            </a:extLst>
          </p:cNvPr>
          <p:cNvSpPr/>
          <p:nvPr/>
        </p:nvSpPr>
        <p:spPr>
          <a:xfrm>
            <a:off x="7907215" y="4718538"/>
            <a:ext cx="1236785" cy="424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92572-2A6A-1AC7-3263-A7011E5B7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E56AB4-1904-F67C-4EFE-278D2242C61F}"/>
              </a:ext>
            </a:extLst>
          </p:cNvPr>
          <p:cNvSpPr/>
          <p:nvPr/>
        </p:nvSpPr>
        <p:spPr>
          <a:xfrm>
            <a:off x="496119" y="71035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Applications, Novelty &amp; Future Scope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CBFAB6-A4D6-9F75-712B-C66CEFAE189F}"/>
              </a:ext>
            </a:extLst>
          </p:cNvPr>
          <p:cNvSpPr/>
          <p:nvPr/>
        </p:nvSpPr>
        <p:spPr>
          <a:xfrm>
            <a:off x="496119" y="1507703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42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Applications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D2DCD0A-ABE1-E8D2-B6B5-8E4E314940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88629"/>
            <a:ext cx="283518" cy="283518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7815749-C49E-BDCC-5101-9DE734939626}"/>
              </a:ext>
            </a:extLst>
          </p:cNvPr>
          <p:cNvSpPr/>
          <p:nvPr/>
        </p:nvSpPr>
        <p:spPr>
          <a:xfrm>
            <a:off x="496119" y="234932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42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Civil Infrastructure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6A2D08-9CC8-AE4E-1569-D81D63C7B914}"/>
              </a:ext>
            </a:extLst>
          </p:cNvPr>
          <p:cNvSpPr/>
          <p:nvPr/>
        </p:nvSpPr>
        <p:spPr>
          <a:xfrm>
            <a:off x="496119" y="2712541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Bridges, buildings, flyovers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29BF04F8-E572-539E-513E-54195A9FDD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222873"/>
            <a:ext cx="283518" cy="283518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9A15BA64-2C5F-40E9-2EE2-3CC1294BF47F}"/>
              </a:ext>
            </a:extLst>
          </p:cNvPr>
          <p:cNvSpPr/>
          <p:nvPr/>
        </p:nvSpPr>
        <p:spPr>
          <a:xfrm>
            <a:off x="496119" y="368357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42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Industrial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D3E56A3-4016-1F9C-AE56-D1D58C9B031E}"/>
              </a:ext>
            </a:extLst>
          </p:cNvPr>
          <p:cNvSpPr/>
          <p:nvPr/>
        </p:nvSpPr>
        <p:spPr>
          <a:xfrm>
            <a:off x="496119" y="4046786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Machinery, trusses, towers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7FD0EB5-587E-174F-21E5-B4AA79C84C16}"/>
              </a:ext>
            </a:extLst>
          </p:cNvPr>
          <p:cNvSpPr/>
          <p:nvPr/>
        </p:nvSpPr>
        <p:spPr>
          <a:xfrm>
            <a:off x="4749701" y="1507703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42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Novelty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77D30D7-AA7C-6915-3F23-202C6B2B3372}"/>
              </a:ext>
            </a:extLst>
          </p:cNvPr>
          <p:cNvSpPr/>
          <p:nvPr/>
        </p:nvSpPr>
        <p:spPr>
          <a:xfrm>
            <a:off x="4749701" y="1870918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RTOS-based </a:t>
            </a:r>
            <a:r>
              <a:rPr lang="en-US" sz="1600" b="1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deterministic multi-point modal analysis</a:t>
            </a:r>
            <a:r>
              <a:rPr lang="en-US" sz="16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vs. simple threshold alarms.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7347A86-A33D-DD78-62DE-6862DA9BA1BC}"/>
              </a:ext>
            </a:extLst>
          </p:cNvPr>
          <p:cNvSpPr/>
          <p:nvPr/>
        </p:nvSpPr>
        <p:spPr>
          <a:xfrm>
            <a:off x="4749701" y="268776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42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Future Scope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A4637B5-3A9B-44B6-C671-631518829BD7}"/>
              </a:ext>
            </a:extLst>
          </p:cNvPr>
          <p:cNvSpPr/>
          <p:nvPr/>
        </p:nvSpPr>
        <p:spPr>
          <a:xfrm>
            <a:off x="4749701" y="3050976"/>
            <a:ext cx="3902943" cy="503188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 fontScale="92500" lnSpcReduction="20000"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4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ML-based damage classification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400" kern="0" spc="-22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Cloud dashboard integration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08ED53-3568-D421-98EB-F22309350256}"/>
              </a:ext>
            </a:extLst>
          </p:cNvPr>
          <p:cNvSpPr/>
          <p:nvPr/>
        </p:nvSpPr>
        <p:spPr>
          <a:xfrm>
            <a:off x="7907215" y="4718538"/>
            <a:ext cx="1236785" cy="424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650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272</Words>
  <Application>Microsoft Office PowerPoint</Application>
  <PresentationFormat>On-screen Show (16:9)</PresentationFormat>
  <Paragraphs>67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Sudarshan Chaudhari</cp:lastModifiedBy>
  <cp:revision>4</cp:revision>
  <dcterms:created xsi:type="dcterms:W3CDTF">2026-08-13T04:41:05Z</dcterms:created>
  <dcterms:modified xsi:type="dcterms:W3CDTF">2026-08-13T15:38:38Z</dcterms:modified>
</cp:coreProperties>
</file>