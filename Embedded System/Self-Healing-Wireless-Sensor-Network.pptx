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2106513"/>
            <a:ext cx="1761386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2163167"/>
            <a:ext cx="214416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EMBEDDED SYSTEMS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46925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Self-Healing Wireless Sensor Network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3934023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Agricultural &amp; Industrial Monitoring Using Adaptive Mesh Routing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STM32 · LoRa (SX1278) · Adaptive Mesh Routing · Fault Tolerance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44988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Problem: Single Point of Failure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914650"/>
            <a:ext cx="6296860" cy="2493367"/>
          </a:xfrm>
          <a:prstGeom prst="roundRect">
            <a:avLst>
              <a:gd name="adj" fmla="val 318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7825" y="2921000"/>
            <a:ext cx="3142080" cy="1391543"/>
          </a:xfrm>
          <a:custGeom>
            <a:avLst/>
            <a:gdLst/>
            <a:ahLst/>
            <a:cxnLst/>
            <a:rect l="l" t="t" r="r" b="b"/>
            <a:pathLst>
              <a:path w="3142080" h="1391543">
                <a:moveTo>
                  <a:pt x="66156" y="0"/>
                </a:moveTo>
                <a:lnTo>
                  <a:pt x="3142080" y="0"/>
                </a:lnTo>
                <a:lnTo>
                  <a:pt x="3142080" y="1391543"/>
                </a:lnTo>
                <a:lnTo>
                  <a:pt x="0" y="1391543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856832" y="3110012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Fixed-Path Networks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518694"/>
            <a:ext cx="276406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Node1 → Node2 → Node3 → Gateway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809905" y="2921000"/>
            <a:ext cx="3142080" cy="1391543"/>
          </a:xfrm>
          <a:custGeom>
            <a:avLst/>
            <a:gdLst/>
            <a:ahLst/>
            <a:cxnLst/>
            <a:rect l="l" t="t" r="r" b="b"/>
            <a:pathLst>
              <a:path w="3142080" h="1391543">
                <a:moveTo>
                  <a:pt x="0" y="0"/>
                </a:moveTo>
                <a:lnTo>
                  <a:pt x="3075924" y="0"/>
                </a:lnTo>
                <a:arcTo hR="66158" wR="66156" stAng="16200000" swAng="5400000"/>
                <a:lnTo>
                  <a:pt x="3142080" y="1391543"/>
                </a:lnTo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9" name="Shape 6"/>
          <p:cNvSpPr/>
          <p:nvPr/>
        </p:nvSpPr>
        <p:spPr>
          <a:xfrm>
            <a:off x="3809905" y="2921000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</p:sp>
      <p:sp>
        <p:nvSpPr>
          <p:cNvPr id="10" name="Text 7"/>
          <p:cNvSpPr/>
          <p:nvPr/>
        </p:nvSpPr>
        <p:spPr>
          <a:xfrm>
            <a:off x="3998912" y="3110012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 Node Fails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3998912" y="3518694"/>
            <a:ext cx="276406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Entire downstream data path collapses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7825" y="4312543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arcTo hR="66158" wR="66156" stAng="0" swAng="5400000"/>
                <a:lnTo>
                  <a:pt x="66156" y="1089124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13" name="Shape 10"/>
          <p:cNvSpPr/>
          <p:nvPr/>
        </p:nvSpPr>
        <p:spPr>
          <a:xfrm>
            <a:off x="667825" y="4312543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4" name="Text 11"/>
          <p:cNvSpPr/>
          <p:nvPr/>
        </p:nvSpPr>
        <p:spPr>
          <a:xfrm>
            <a:off x="856832" y="450155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56832" y="4910237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data loss, no recovery, manual intervention required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726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spc="-8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4997" y="2380258"/>
            <a:ext cx="5548372" cy="275113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2226" y="1417141"/>
            <a:ext cx="3564245" cy="113307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18679" y="1587401"/>
            <a:ext cx="314753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10-Node Mesh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8218679" y="1944588"/>
            <a:ext cx="314753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STM32 + LoRa sensor nodes in adaptive mesh topology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2226" y="2671167"/>
            <a:ext cx="3564245" cy="113307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18679" y="2841427"/>
            <a:ext cx="314753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Automatic Fault Detection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8218679" y="3198614"/>
            <a:ext cx="314753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Heartbeat-based monitoring, zero manual intervention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72226" y="3925193"/>
            <a:ext cx="3564245" cy="113307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18679" y="4095452"/>
            <a:ext cx="314753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Instant Rerouting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8218679" y="4452640"/>
            <a:ext cx="314753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path reconstruction around failed nodes</a:t>
            </a:r>
            <a:endParaRPr lang="en-US" sz="11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72226" y="5179219"/>
            <a:ext cx="3564245" cy="91539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18679" y="5349478"/>
            <a:ext cx="314753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 Cost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8218679" y="5706666"/>
            <a:ext cx="314753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under ₹15,000 total hardware cost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spc="-10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Literature Survey &amp; Research Gap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57424"/>
            <a:ext cx="4704141" cy="4704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659" y="2492573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Exists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309659" y="2911376"/>
            <a:ext cx="5226911" cy="1141413"/>
          </a:xfrm>
          <a:prstGeom prst="rect">
            <a:avLst/>
          </a:prstGeom>
          <a:noFill/>
          <a:ln/>
        </p:spPr>
        <p:txBody>
          <a:bodyPr wrap="square" lIns="0" tIns="68047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LoRa-based agricultural monitoring — fixed paths only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AODV &amp; flooding protocols — theoretically sound, rarely embedded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LoRaWAN — star topology, no mesh redundancy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09659" y="4205883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Gap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309659" y="4624685"/>
            <a:ext cx="522691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student-grade implementation of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distributed, self-healing mesh routing</a:t>
            </a:r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resource-constrained STM32 + LoRa hardware.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903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spc="-8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Proposed System Architecture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8389" y="1433413"/>
            <a:ext cx="8694917" cy="4351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7553" y="3426375"/>
            <a:ext cx="1632983" cy="244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Fault Detection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120564" y="5414722"/>
            <a:ext cx="1954367" cy="244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Redundancy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762473" y="3304224"/>
            <a:ext cx="1632983" cy="488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Automatic Reroute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115678" y="1612025"/>
            <a:ext cx="1954368" cy="244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Connectivity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84910" y="4467102"/>
            <a:ext cx="1676413" cy="351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200" spc="-3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Mesh Health: 10 STM32 LoRa nodes active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86721" y="4387839"/>
            <a:ext cx="1676413" cy="527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200" spc="-3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Event: Node2 offline, detected automatically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86721" y="2780875"/>
            <a:ext cx="1676413" cy="527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200" spc="-3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Failure: Node1→Node3→Gateway (reroute)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32794" y="2780875"/>
            <a:ext cx="1676413" cy="527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200" spc="-3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Failure: Node1→Node2→Node3→Gateway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1475" y="5921276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STM32 + LoRa nodes form an adaptive mesh. When Node2 fails, the network autonomously reroutes via Node3 — zero data loss, zero manual action.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192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Node Hardware Design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00598"/>
            <a:ext cx="1473163" cy="147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110038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STM32 MCU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518720"/>
            <a:ext cx="25399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ARM Cortex-M3, 72 MHz, 64 KB Flash — routing stack + sensor processing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400598"/>
            <a:ext cx="1473163" cy="147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411003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LoRa Transceiver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518720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SX1278 / RFM95, 433 MHz, long-range, low-power RF link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400598"/>
            <a:ext cx="1473163" cy="1473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411003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Sensor Interface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518720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DHT22, soil moisture, voltage — configurable per deployment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400598"/>
            <a:ext cx="1473163" cy="1473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4110038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Management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518720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Li-ion battery, voltage monitoring, low-power sleep modes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297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Routing &amp; Self-Healing Algorithm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830" y="1721644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67137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Table Update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4518531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Route Discover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467137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Fault Detect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467137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Heartbeat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80261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Heartbeat interval: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s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Failure threshold: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 missed beacons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Re-discovery: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flood-based RREQ/RREP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3605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10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Battery-Aware Routing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210" y="2719685"/>
            <a:ext cx="6565736" cy="223559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17270" y="1592560"/>
            <a:ext cx="3519201" cy="1382911"/>
          </a:xfrm>
          <a:prstGeom prst="roundRect">
            <a:avLst>
              <a:gd name="adj" fmla="val 545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03102" y="1778397"/>
            <a:ext cx="314753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Beacon Payload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203102" y="2229445"/>
            <a:ext cx="314753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heartbeat includes remaining battery %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17270" y="3146028"/>
            <a:ext cx="3519201" cy="1382911"/>
          </a:xfrm>
          <a:prstGeom prst="roundRect">
            <a:avLst>
              <a:gd name="adj" fmla="val 545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03102" y="3331865"/>
            <a:ext cx="314753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Proactive Avoidance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203102" y="3782913"/>
            <a:ext cx="314753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Nodes below 20% excluded from routing table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17270" y="4699496"/>
            <a:ext cx="3519201" cy="1382911"/>
          </a:xfrm>
          <a:prstGeom prst="roundRect">
            <a:avLst>
              <a:gd name="adj" fmla="val 545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03102" y="4885333"/>
            <a:ext cx="314753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 Lifetime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203102" y="5336381"/>
            <a:ext cx="314753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Extends overall network uptime by avoiding weak links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2340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spc="-7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Methodology &amp; Expected Results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6656" y="1325959"/>
            <a:ext cx="6838382" cy="25660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01967" y="3169764"/>
            <a:ext cx="1031415" cy="397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spc="-3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Deliver to Gateway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902103" y="3169764"/>
            <a:ext cx="1031414" cy="397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spc="-3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Self‑Reconfigure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609303" y="3269111"/>
            <a:ext cx="1031414" cy="19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spc="-3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Inject Failure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316502" y="3269111"/>
            <a:ext cx="1031414" cy="19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spc="-3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Normal Mesh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995444" y="3169764"/>
            <a:ext cx="1031415" cy="397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spc="-3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 10 Nodes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1475" y="3981847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flow from field deployment through fault injection to verified data delivery at gateway.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61475" y="4313535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Hardware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1475" y="4595316"/>
            <a:ext cx="5284556" cy="1390452"/>
          </a:xfrm>
          <a:prstGeom prst="roundRect">
            <a:avLst>
              <a:gd name="adj" fmla="val 3711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1475" y="4875312"/>
            <a:ext cx="5284556" cy="767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61475" y="5152132"/>
            <a:ext cx="5284556" cy="767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61475" y="5428952"/>
            <a:ext cx="5284556" cy="767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61475" y="5705773"/>
            <a:ext cx="5284556" cy="767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91448" y="4655840"/>
            <a:ext cx="212074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Component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548271" y="4655840"/>
            <a:ext cx="212074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Qty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305093" y="4655840"/>
            <a:ext cx="212074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91448" y="4932660"/>
            <a:ext cx="212074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STM32 Board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548271" y="4932660"/>
            <a:ext cx="212074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05093" y="4932660"/>
            <a:ext cx="212074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₹4,000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91448" y="5209480"/>
            <a:ext cx="212074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LoRa Module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548271" y="5209480"/>
            <a:ext cx="212074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305093" y="5209480"/>
            <a:ext cx="212074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₹3,500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91448" y="5486301"/>
            <a:ext cx="212074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Sensors + Power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2548271" y="5486301"/>
            <a:ext cx="212074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305093" y="5486301"/>
            <a:ext cx="212074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₹4,500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91448" y="5763121"/>
            <a:ext cx="212074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2548271" y="5763121"/>
            <a:ext cx="212074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305093" y="5763121"/>
            <a:ext cx="212074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~₹12,000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252014" y="4313535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Metrics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252014" y="4585295"/>
            <a:ext cx="5284556" cy="732135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Recovery time: &lt; 10 s target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Packet delivery ratio: &gt; 90%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 overhead: &lt; 15%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Per-node power: &lt; 50 mW avg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72095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spc="-7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Applications, Novelty &amp; Future Scope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233360" y="1124446"/>
            <a:ext cx="6296860" cy="973336"/>
          </a:xfrm>
          <a:prstGeom prst="roundRect">
            <a:avLst>
              <a:gd name="adj" fmla="val 570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371966" y="1263055"/>
            <a:ext cx="396865" cy="39687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1104" y="1372195"/>
            <a:ext cx="178589" cy="1785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71966" y="1752501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3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Precision Agriculture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233360" y="2190353"/>
            <a:ext cx="6296860" cy="973336"/>
          </a:xfrm>
          <a:prstGeom prst="roundRect">
            <a:avLst>
              <a:gd name="adj" fmla="val 570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371966" y="2328962"/>
            <a:ext cx="396865" cy="39687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1104" y="2438102"/>
            <a:ext cx="178589" cy="1785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71966" y="2818408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3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Industrial IoT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233360" y="3256260"/>
            <a:ext cx="6296860" cy="973336"/>
          </a:xfrm>
          <a:prstGeom prst="roundRect">
            <a:avLst>
              <a:gd name="adj" fmla="val 570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371966" y="3394869"/>
            <a:ext cx="396865" cy="39687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1104" y="3504009"/>
            <a:ext cx="178589" cy="17859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71966" y="3884315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3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Disaster-Resilient Networks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233360" y="4322167"/>
            <a:ext cx="6296860" cy="973336"/>
          </a:xfrm>
          <a:prstGeom prst="roundRect">
            <a:avLst>
              <a:gd name="adj" fmla="val 570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371966" y="4460776"/>
            <a:ext cx="396865" cy="39687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81104" y="4569916"/>
            <a:ext cx="178589" cy="17859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71966" y="4950222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3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Infrastructure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5233360" y="5399683"/>
            <a:ext cx="6296860" cy="601960"/>
          </a:xfrm>
          <a:prstGeom prst="roundRect">
            <a:avLst>
              <a:gd name="adj" fmla="val 9232"/>
            </a:avLst>
          </a:prstGeom>
          <a:solidFill>
            <a:srgbClr val="DADBF1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5616" y="5536505"/>
            <a:ext cx="165294" cy="132259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663165" y="5525294"/>
            <a:ext cx="573480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spc="-2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Novelty: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Distributed self-healing mesh routing on resource-constrained STM32 nodes — beyond typical fixed-topology LoRa projects.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5233360" y="6105823"/>
            <a:ext cx="6906444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Future: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Scale to 50+ nodes · ML-based failure prediction · Cloud dashboard integration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2026-08-13T04:50:06Z</dcterms:created>
  <dcterms:modified xsi:type="dcterms:W3CDTF">2026-08-13T04:50:06Z</dcterms:modified>
</cp:coreProperties>
</file>