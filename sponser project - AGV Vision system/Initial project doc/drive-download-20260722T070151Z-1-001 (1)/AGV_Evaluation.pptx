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75" r:id="rId1"/>
  </p:sldMasterIdLst>
  <p:sldIdLst>
    <p:sldId id="256" r:id="rId2"/>
    <p:sldId id="257" r:id="rId3"/>
    <p:sldId id="258" r:id="rId4"/>
    <p:sldId id="259" r:id="rId5"/>
    <p:sldId id="274" r:id="rId6"/>
    <p:sldId id="273" r:id="rId7"/>
    <p:sldId id="264" r:id="rId8"/>
    <p:sldId id="283" r:id="rId9"/>
    <p:sldId id="286" r:id="rId10"/>
    <p:sldId id="269" r:id="rId11"/>
    <p:sldId id="265" r:id="rId12"/>
    <p:sldId id="266" r:id="rId13"/>
    <p:sldId id="267" r:id="rId14"/>
    <p:sldId id="275" r:id="rId15"/>
    <p:sldId id="268" r:id="rId16"/>
    <p:sldId id="270" r:id="rId17"/>
    <p:sldId id="284" r:id="rId18"/>
    <p:sldId id="285" r:id="rId19"/>
    <p:sldId id="287" r:id="rId20"/>
    <p:sldId id="288" r:id="rId21"/>
    <p:sldId id="278" r:id="rId22"/>
    <p:sldId id="282" r:id="rId23"/>
    <p:sldId id="27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386E5-7ADB-4E2D-A914-E0F50E26B6F8}" type="datetimeFigureOut">
              <a:rPr lang="en-IN" smtClean="0"/>
              <a:t>10-06-2021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9A6-1484-42AA-8BFB-FD98F53E73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6222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386E5-7ADB-4E2D-A914-E0F50E26B6F8}" type="datetimeFigureOut">
              <a:rPr lang="en-IN" smtClean="0"/>
              <a:t>10-06-2021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13C09A6-1484-42AA-8BFB-FD98F53E73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4074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386E5-7ADB-4E2D-A914-E0F50E26B6F8}" type="datetimeFigureOut">
              <a:rPr lang="en-IN" smtClean="0"/>
              <a:t>10-06-2021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9A6-1484-42AA-8BFB-FD98F53E73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3922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386E5-7ADB-4E2D-A914-E0F50E26B6F8}" type="datetimeFigureOut">
              <a:rPr lang="en-IN" smtClean="0"/>
              <a:t>10-06-2021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9A6-1484-42AA-8BFB-FD98F53E73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5916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386E5-7ADB-4E2D-A914-E0F50E26B6F8}" type="datetimeFigureOut">
              <a:rPr lang="en-IN" smtClean="0"/>
              <a:t>10-06-2021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9A6-1484-42AA-8BFB-FD98F53E73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5151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386E5-7ADB-4E2D-A914-E0F50E26B6F8}" type="datetimeFigureOut">
              <a:rPr lang="en-IN" smtClean="0"/>
              <a:t>10-06-2021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9A6-1484-42AA-8BFB-FD98F53E73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498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386E5-7ADB-4E2D-A914-E0F50E26B6F8}" type="datetimeFigureOut">
              <a:rPr lang="en-IN" smtClean="0"/>
              <a:t>10-06-2021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9A6-1484-42AA-8BFB-FD98F53E73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5288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386E5-7ADB-4E2D-A914-E0F50E26B6F8}" type="datetimeFigureOut">
              <a:rPr lang="en-IN" smtClean="0"/>
              <a:t>10-06-2021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9A6-1484-42AA-8BFB-FD98F53E73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0383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386E5-7ADB-4E2D-A914-E0F50E26B6F8}" type="datetimeFigureOut">
              <a:rPr lang="en-IN" smtClean="0"/>
              <a:t>10-06-2021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9A6-1484-42AA-8BFB-FD98F53E73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2043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386E5-7ADB-4E2D-A914-E0F50E26B6F8}" type="datetimeFigureOut">
              <a:rPr lang="en-IN" smtClean="0"/>
              <a:t>10-06-2021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9A6-1484-42AA-8BFB-FD98F53E73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0571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386E5-7ADB-4E2D-A914-E0F50E26B6F8}" type="datetimeFigureOut">
              <a:rPr lang="en-IN" smtClean="0"/>
              <a:t>10-06-2021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9A6-1484-42AA-8BFB-FD98F53E73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0266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386E5-7ADB-4E2D-A914-E0F50E26B6F8}" type="datetimeFigureOut">
              <a:rPr lang="en-IN" smtClean="0"/>
              <a:t>10-06-2021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9A6-1484-42AA-8BFB-FD98F53E73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4864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386E5-7ADB-4E2D-A914-E0F50E26B6F8}" type="datetimeFigureOut">
              <a:rPr lang="en-IN" smtClean="0"/>
              <a:t>10-06-2021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9A6-1484-42AA-8BFB-FD98F53E73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0508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386E5-7ADB-4E2D-A914-E0F50E26B6F8}" type="datetimeFigureOut">
              <a:rPr lang="en-IN" smtClean="0"/>
              <a:t>10-06-2021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9A6-1484-42AA-8BFB-FD98F53E73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2415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386E5-7ADB-4E2D-A914-E0F50E26B6F8}" type="datetimeFigureOut">
              <a:rPr lang="en-IN" smtClean="0"/>
              <a:t>10-06-2021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9A6-1484-42AA-8BFB-FD98F53E73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7092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386E5-7ADB-4E2D-A914-E0F50E26B6F8}" type="datetimeFigureOut">
              <a:rPr lang="en-IN" smtClean="0"/>
              <a:t>10-06-2021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9A6-1484-42AA-8BFB-FD98F53E73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28086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386E5-7ADB-4E2D-A914-E0F50E26B6F8}" type="datetimeFigureOut">
              <a:rPr lang="en-IN" smtClean="0"/>
              <a:t>10-06-2021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9A6-1484-42AA-8BFB-FD98F53E73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7871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EA386E5-7ADB-4E2D-A914-E0F50E26B6F8}" type="datetimeFigureOut">
              <a:rPr lang="en-IN" smtClean="0"/>
              <a:t>10-06-2021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13C09A6-1484-42AA-8BFB-FD98F53E73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3293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76" r:id="rId1"/>
    <p:sldLayoutId id="2147484377" r:id="rId2"/>
    <p:sldLayoutId id="2147484378" r:id="rId3"/>
    <p:sldLayoutId id="2147484379" r:id="rId4"/>
    <p:sldLayoutId id="2147484380" r:id="rId5"/>
    <p:sldLayoutId id="2147484381" r:id="rId6"/>
    <p:sldLayoutId id="2147484382" r:id="rId7"/>
    <p:sldLayoutId id="2147484383" r:id="rId8"/>
    <p:sldLayoutId id="2147484384" r:id="rId9"/>
    <p:sldLayoutId id="2147484385" r:id="rId10"/>
    <p:sldLayoutId id="2147484386" r:id="rId11"/>
    <p:sldLayoutId id="2147484387" r:id="rId12"/>
    <p:sldLayoutId id="2147484388" r:id="rId13"/>
    <p:sldLayoutId id="2147484389" r:id="rId14"/>
    <p:sldLayoutId id="2147484390" r:id="rId15"/>
    <p:sldLayoutId id="2147484391" r:id="rId16"/>
    <p:sldLayoutId id="214748439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ivemq.com/blog/mqtt-essentials-part-1-introducing-mqtt/" TargetMode="External"/><Relationship Id="rId2" Type="http://schemas.openxmlformats.org/officeDocument/2006/relationships/hyperlink" Target="https://www.coppeliarobotics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ytron.io/p-advanced-auto-calibrating-line-sensor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6BAD7-0785-48EE-B5DF-9A395DFC6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2870" y="1122363"/>
            <a:ext cx="9144000" cy="1913800"/>
          </a:xfrm>
        </p:spPr>
        <p:txBody>
          <a:bodyPr>
            <a:noAutofit/>
          </a:bodyPr>
          <a:lstStyle/>
          <a:p>
            <a:pPr algn="ctr">
              <a:tabLst>
                <a:tab pos="2743200" algn="ctr"/>
                <a:tab pos="4714875" algn="l"/>
              </a:tabLst>
            </a:pP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Bansilal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Ramnath Agarwal Charitable Trust’s</a:t>
            </a:r>
            <a:b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Vishwakarma Institute of Information Technology, Pune </a:t>
            </a:r>
            <a:b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Department of Electronics and Telecommunications</a:t>
            </a:r>
            <a:b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ABAFFBA-E3B0-4B2D-8E04-CF2C357B6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7171" y="2865858"/>
            <a:ext cx="8915399" cy="1126283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Presentation: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b="0" i="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Guided Vehicle(AGV)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E94A0A-69EA-49EA-BA50-D667882AB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74" y="453384"/>
            <a:ext cx="1659197" cy="162587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4287FC8-12B8-439E-88D9-BB4336BC0131}"/>
              </a:ext>
            </a:extLst>
          </p:cNvPr>
          <p:cNvSpPr txBox="1">
            <a:spLocks/>
          </p:cNvSpPr>
          <p:nvPr/>
        </p:nvSpPr>
        <p:spPr>
          <a:xfrm>
            <a:off x="4497965" y="4256337"/>
            <a:ext cx="3196070" cy="17104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000" u="sng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E&amp;TC Dept.</a:t>
            </a:r>
          </a:p>
          <a:p>
            <a:pPr marL="463550">
              <a:spcBef>
                <a:spcPts val="0"/>
              </a:spcBef>
              <a:buSzPts val="1700"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Mayuresh Takawane</a:t>
            </a:r>
          </a:p>
          <a:p>
            <a:pPr marL="463550">
              <a:spcBef>
                <a:spcPts val="0"/>
              </a:spcBef>
              <a:buSzPts val="1700"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Shoaib Shaikh</a:t>
            </a:r>
          </a:p>
          <a:p>
            <a:pPr marL="463550">
              <a:spcBef>
                <a:spcPts val="0"/>
              </a:spcBef>
              <a:buSzPts val="1700"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Zahid Hussain</a:t>
            </a:r>
            <a:endParaRPr lang="en-IN" dirty="0"/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A71E25-4178-407C-BC3F-B5F119DE5495}"/>
              </a:ext>
            </a:extLst>
          </p:cNvPr>
          <p:cNvSpPr txBox="1"/>
          <p:nvPr/>
        </p:nvSpPr>
        <p:spPr>
          <a:xfrm>
            <a:off x="7694035" y="4256337"/>
            <a:ext cx="293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sng" strike="noStrike" cap="none" dirty="0">
                <a:latin typeface="Times New Roman"/>
                <a:ea typeface="Times New Roman"/>
                <a:cs typeface="Times New Roman"/>
                <a:sym typeface="Times New Roman"/>
              </a:rPr>
              <a:t>Guide:</a:t>
            </a:r>
            <a:endParaRPr lang="en-US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Prof. Rahul Pol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0687AD8B-1729-4AF4-BF7F-97C872DB4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43" y="3821838"/>
            <a:ext cx="4345053" cy="281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613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FF85-C62E-41E3-8E48-217B0D640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3E68073-866F-40D1-88B0-F2BE405A8E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2316309"/>
              </p:ext>
            </p:extLst>
          </p:nvPr>
        </p:nvGraphicFramePr>
        <p:xfrm>
          <a:off x="1484311" y="1929881"/>
          <a:ext cx="10018713" cy="3708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54196">
                  <a:extLst>
                    <a:ext uri="{9D8B030D-6E8A-4147-A177-3AD203B41FA5}">
                      <a16:colId xmlns:a16="http://schemas.microsoft.com/office/drawing/2014/main" val="3215794792"/>
                    </a:ext>
                  </a:extLst>
                </a:gridCol>
                <a:gridCol w="6276512">
                  <a:extLst>
                    <a:ext uri="{9D8B030D-6E8A-4147-A177-3AD203B41FA5}">
                      <a16:colId xmlns:a16="http://schemas.microsoft.com/office/drawing/2014/main" val="505703005"/>
                    </a:ext>
                  </a:extLst>
                </a:gridCol>
                <a:gridCol w="2288005">
                  <a:extLst>
                    <a:ext uri="{9D8B030D-6E8A-4147-A177-3AD203B41FA5}">
                      <a16:colId xmlns:a16="http://schemas.microsoft.com/office/drawing/2014/main" val="896650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 No.</a:t>
                      </a:r>
                    </a:p>
                  </a:txBody>
                  <a:tcPr marL="102756" marR="10275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102756" marR="10275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Page No.</a:t>
                      </a:r>
                    </a:p>
                  </a:txBody>
                  <a:tcPr marL="102756" marR="102756"/>
                </a:tc>
                <a:extLst>
                  <a:ext uri="{0D108BD9-81ED-4DB2-BD59-A6C34878D82A}">
                    <a16:rowId xmlns:a16="http://schemas.microsoft.com/office/drawing/2014/main" val="2470677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102756" marR="102756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</a:p>
                  </a:txBody>
                  <a:tcPr marL="102756" marR="10275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02756" marR="102756"/>
                </a:tc>
                <a:extLst>
                  <a:ext uri="{0D108BD9-81ED-4DB2-BD59-A6C34878D82A}">
                    <a16:rowId xmlns:a16="http://schemas.microsoft.com/office/drawing/2014/main" val="3864583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102756" marR="102756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</a:p>
                  </a:txBody>
                  <a:tcPr marL="102756" marR="10275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102756" marR="102756"/>
                </a:tc>
                <a:extLst>
                  <a:ext uri="{0D108BD9-81ED-4DB2-BD59-A6C34878D82A}">
                    <a16:rowId xmlns:a16="http://schemas.microsoft.com/office/drawing/2014/main" val="867383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02756" marR="102756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102756" marR="10275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102756" marR="102756"/>
                </a:tc>
                <a:extLst>
                  <a:ext uri="{0D108BD9-81ED-4DB2-BD59-A6C34878D82A}">
                    <a16:rowId xmlns:a16="http://schemas.microsoft.com/office/drawing/2014/main" val="2995320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102756" marR="102756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Electronic Design and Layout</a:t>
                      </a:r>
                    </a:p>
                  </a:txBody>
                  <a:tcPr marL="102756" marR="10275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102756" marR="102756"/>
                </a:tc>
                <a:extLst>
                  <a:ext uri="{0D108BD9-81ED-4DB2-BD59-A6C34878D82A}">
                    <a16:rowId xmlns:a16="http://schemas.microsoft.com/office/drawing/2014/main" val="1583549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102756" marR="102756"/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Cytron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LSA08</a:t>
                      </a:r>
                    </a:p>
                  </a:txBody>
                  <a:tcPr marL="102756" marR="10275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102756" marR="102756"/>
                </a:tc>
                <a:extLst>
                  <a:ext uri="{0D108BD9-81ED-4DB2-BD59-A6C34878D82A}">
                    <a16:rowId xmlns:a16="http://schemas.microsoft.com/office/drawing/2014/main" val="800671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102756" marR="102756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</a:t>
                      </a:r>
                    </a:p>
                  </a:txBody>
                  <a:tcPr marL="102756" marR="10275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102756" marR="102756"/>
                </a:tc>
                <a:extLst>
                  <a:ext uri="{0D108BD9-81ED-4DB2-BD59-A6C34878D82A}">
                    <a16:rowId xmlns:a16="http://schemas.microsoft.com/office/drawing/2014/main" val="2454993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102756" marR="102756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V-REP Simulation and Actual Implementation</a:t>
                      </a:r>
                    </a:p>
                  </a:txBody>
                  <a:tcPr marL="102756" marR="10275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102756" marR="102756"/>
                </a:tc>
                <a:extLst>
                  <a:ext uri="{0D108BD9-81ED-4DB2-BD59-A6C34878D82A}">
                    <a16:rowId xmlns:a16="http://schemas.microsoft.com/office/drawing/2014/main" val="1522138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102756" marR="102756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Scope</a:t>
                      </a:r>
                    </a:p>
                  </a:txBody>
                  <a:tcPr marL="102756" marR="10275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102756" marR="102756"/>
                </a:tc>
                <a:extLst>
                  <a:ext uri="{0D108BD9-81ED-4DB2-BD59-A6C34878D82A}">
                    <a16:rowId xmlns:a16="http://schemas.microsoft.com/office/drawing/2014/main" val="3191445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2756" marR="102756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References</a:t>
                      </a:r>
                    </a:p>
                  </a:txBody>
                  <a:tcPr marL="102756" marR="10275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marL="102756" marR="102756"/>
                </a:tc>
                <a:extLst>
                  <a:ext uri="{0D108BD9-81ED-4DB2-BD59-A6C34878D82A}">
                    <a16:rowId xmlns:a16="http://schemas.microsoft.com/office/drawing/2014/main" val="3431535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4963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94075-44A1-405E-AF86-4770F73AA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ACE28-CCFE-4B27-B599-698FA31E2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An automated guided vehicle or automatic guided vehicle (AGV) is a mobile robot that follows markers or wires in the floor, or uses vision or lasers. </a:t>
            </a:r>
          </a:p>
          <a:p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They are most often used in industrial applications to move materials around a manufacturing facility or a warehouse. </a:t>
            </a:r>
          </a:p>
          <a:p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The IOT enables the communication between the AGV with the station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mobile application , central store and many more. </a:t>
            </a:r>
          </a:p>
          <a:p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Thus AGV have various application when programed in such a way that it need to be.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1962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5AD9B-BDEE-49A2-807F-E6EE4C02B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FC642-2289-412F-89A5-1B5D03093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AGV following the line with identifying the stops marked on the ground.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 with the Mobile Application to have the RFID strings.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 with central store to get ready to carry the load.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Confirming the person with RFID tags and unlocking the drawers.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to the station for charging.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9431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0189C-46CC-436A-95DA-73F76AE78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2552700"/>
            <a:ext cx="10018713" cy="1752599"/>
          </a:xfrm>
        </p:spPr>
        <p:txBody>
          <a:bodyPr/>
          <a:lstStyle/>
          <a:p>
            <a:r>
              <a:rPr lang="en-IN" dirty="0"/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671202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EF0D4813-9518-4D43-8265-75D9111A212C}"/>
              </a:ext>
            </a:extLst>
          </p:cNvPr>
          <p:cNvSpPr/>
          <p:nvPr/>
        </p:nvSpPr>
        <p:spPr>
          <a:xfrm>
            <a:off x="3483325" y="113026"/>
            <a:ext cx="1307976" cy="426128"/>
          </a:xfrm>
          <a:prstGeom prst="flowChartTerminator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START</a:t>
            </a:r>
          </a:p>
        </p:txBody>
      </p:sp>
      <p:sp>
        <p:nvSpPr>
          <p:cNvPr id="5" name="Flowchart: Data 4">
            <a:extLst>
              <a:ext uri="{FF2B5EF4-FFF2-40B4-BE49-F238E27FC236}">
                <a16:creationId xmlns:a16="http://schemas.microsoft.com/office/drawing/2014/main" id="{4815B94C-2FB8-4B3C-AA5E-4D3834EE54ED}"/>
              </a:ext>
            </a:extLst>
          </p:cNvPr>
          <p:cNvSpPr/>
          <p:nvPr/>
        </p:nvSpPr>
        <p:spPr>
          <a:xfrm>
            <a:off x="3119340" y="702858"/>
            <a:ext cx="2035945" cy="790113"/>
          </a:xfrm>
          <a:prstGeom prst="flowChartInputOutp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Receive RFID Strings</a:t>
            </a:r>
          </a:p>
        </p:txBody>
      </p:sp>
      <p:sp>
        <p:nvSpPr>
          <p:cNvPr id="6" name="Flowchart: Decision 5">
            <a:extLst>
              <a:ext uri="{FF2B5EF4-FFF2-40B4-BE49-F238E27FC236}">
                <a16:creationId xmlns:a16="http://schemas.microsoft.com/office/drawing/2014/main" id="{87817FDF-7CDF-401B-B1A5-D716420BB430}"/>
              </a:ext>
            </a:extLst>
          </p:cNvPr>
          <p:cNvSpPr/>
          <p:nvPr/>
        </p:nvSpPr>
        <p:spPr>
          <a:xfrm>
            <a:off x="3035002" y="1656675"/>
            <a:ext cx="2204617" cy="1256188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Line Detection</a:t>
            </a:r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F0F69918-B6D4-4574-B042-2A1484FE0502}"/>
              </a:ext>
            </a:extLst>
          </p:cNvPr>
          <p:cNvSpPr/>
          <p:nvPr/>
        </p:nvSpPr>
        <p:spPr>
          <a:xfrm>
            <a:off x="3035001" y="3109858"/>
            <a:ext cx="2204617" cy="1256188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Obstacle Detection</a:t>
            </a:r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ACC56AE3-0C75-4F17-8C9E-3481C0BB5B06}"/>
              </a:ext>
            </a:extLst>
          </p:cNvPr>
          <p:cNvSpPr/>
          <p:nvPr/>
        </p:nvSpPr>
        <p:spPr>
          <a:xfrm>
            <a:off x="3035000" y="4563041"/>
            <a:ext cx="2204617" cy="1256188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Stop</a:t>
            </a:r>
          </a:p>
          <a:p>
            <a:pPr algn="ctr"/>
            <a:r>
              <a:rPr lang="en-IN" dirty="0"/>
              <a:t>Detection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D98486-DC86-4EDA-B6A6-F7FCFA965A42}"/>
              </a:ext>
            </a:extLst>
          </p:cNvPr>
          <p:cNvCxnSpPr>
            <a:stCxn id="4" idx="2"/>
            <a:endCxn id="5" idx="1"/>
          </p:cNvCxnSpPr>
          <p:nvPr/>
        </p:nvCxnSpPr>
        <p:spPr>
          <a:xfrm>
            <a:off x="4137313" y="539154"/>
            <a:ext cx="0" cy="1637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A0A7B4-CD19-45A0-AE9E-4C3133337972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4137310" y="2912863"/>
            <a:ext cx="1" cy="1969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3AD1829-63EB-4EDC-8B64-C06AED7538F1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4137309" y="4366046"/>
            <a:ext cx="1" cy="1969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43D4CFF-C8F4-4B6F-BA09-18077E71C4A0}"/>
              </a:ext>
            </a:extLst>
          </p:cNvPr>
          <p:cNvCxnSpPr>
            <a:cxnSpLocks/>
            <a:stCxn id="5" idx="4"/>
            <a:endCxn id="6" idx="0"/>
          </p:cNvCxnSpPr>
          <p:nvPr/>
        </p:nvCxnSpPr>
        <p:spPr>
          <a:xfrm flipH="1">
            <a:off x="4137311" y="1492971"/>
            <a:ext cx="2" cy="1637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3E0DC200-3910-48C6-8363-B05B6E3F655D}"/>
              </a:ext>
            </a:extLst>
          </p:cNvPr>
          <p:cNvSpPr/>
          <p:nvPr/>
        </p:nvSpPr>
        <p:spPr>
          <a:xfrm>
            <a:off x="1223217" y="2865721"/>
            <a:ext cx="1260629" cy="48827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Motor 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2934CB-34EB-4475-A69B-0EC833A4C83D}"/>
              </a:ext>
            </a:extLst>
          </p:cNvPr>
          <p:cNvSpPr/>
          <p:nvPr/>
        </p:nvSpPr>
        <p:spPr>
          <a:xfrm>
            <a:off x="3506993" y="6016224"/>
            <a:ext cx="1260629" cy="48827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Motor OFF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7C6EFB62-6595-4C98-AE98-1601E760B639}"/>
              </a:ext>
            </a:extLst>
          </p:cNvPr>
          <p:cNvCxnSpPr>
            <a:stCxn id="8" idx="2"/>
            <a:endCxn id="15" idx="0"/>
          </p:cNvCxnSpPr>
          <p:nvPr/>
        </p:nvCxnSpPr>
        <p:spPr>
          <a:xfrm rot="5400000">
            <a:off x="4038812" y="5917726"/>
            <a:ext cx="196995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8811FF27-5D36-409C-B3B7-0438FA71A0C9}"/>
              </a:ext>
            </a:extLst>
          </p:cNvPr>
          <p:cNvCxnSpPr>
            <a:stCxn id="6" idx="3"/>
            <a:endCxn id="15" idx="3"/>
          </p:cNvCxnSpPr>
          <p:nvPr/>
        </p:nvCxnSpPr>
        <p:spPr>
          <a:xfrm flipH="1">
            <a:off x="4767622" y="2284769"/>
            <a:ext cx="471997" cy="3975591"/>
          </a:xfrm>
          <a:prstGeom prst="bentConnector3">
            <a:avLst>
              <a:gd name="adj1" fmla="val -24404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25EF9335-610F-4F69-8E2C-192CFBCEC75F}"/>
              </a:ext>
            </a:extLst>
          </p:cNvPr>
          <p:cNvCxnSpPr>
            <a:cxnSpLocks/>
            <a:stCxn id="7" idx="3"/>
            <a:endCxn id="15" idx="3"/>
          </p:cNvCxnSpPr>
          <p:nvPr/>
        </p:nvCxnSpPr>
        <p:spPr>
          <a:xfrm flipH="1">
            <a:off x="4767622" y="3737952"/>
            <a:ext cx="471996" cy="2522408"/>
          </a:xfrm>
          <a:prstGeom prst="bentConnector3">
            <a:avLst>
              <a:gd name="adj1" fmla="val -24404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3F45A8CA-E408-49DD-8E71-231DF5BFDDB0}"/>
              </a:ext>
            </a:extLst>
          </p:cNvPr>
          <p:cNvCxnSpPr>
            <a:stCxn id="8" idx="1"/>
            <a:endCxn id="13" idx="2"/>
          </p:cNvCxnSpPr>
          <p:nvPr/>
        </p:nvCxnSpPr>
        <p:spPr>
          <a:xfrm rot="10800000">
            <a:off x="1853532" y="3353993"/>
            <a:ext cx="1181468" cy="183714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9223AA1-F1B2-46FE-9A22-D597A083B78C}"/>
              </a:ext>
            </a:extLst>
          </p:cNvPr>
          <p:cNvSpPr txBox="1"/>
          <p:nvPr/>
        </p:nvSpPr>
        <p:spPr>
          <a:xfrm>
            <a:off x="2610361" y="4931540"/>
            <a:ext cx="424640" cy="259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NO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9E019D-C384-4972-AD22-44B2AE969BB7}"/>
              </a:ext>
            </a:extLst>
          </p:cNvPr>
          <p:cNvSpPr txBox="1"/>
          <p:nvPr/>
        </p:nvSpPr>
        <p:spPr>
          <a:xfrm>
            <a:off x="4228311" y="4327018"/>
            <a:ext cx="424640" cy="259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NO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978A3E-D960-48BC-8EF4-828E6C36D0BE}"/>
              </a:ext>
            </a:extLst>
          </p:cNvPr>
          <p:cNvSpPr txBox="1"/>
          <p:nvPr/>
        </p:nvSpPr>
        <p:spPr>
          <a:xfrm>
            <a:off x="5373233" y="2024200"/>
            <a:ext cx="424640" cy="259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NO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39CE8B-1B5F-4DD5-9989-C9647317D03F}"/>
              </a:ext>
            </a:extLst>
          </p:cNvPr>
          <p:cNvSpPr txBox="1"/>
          <p:nvPr/>
        </p:nvSpPr>
        <p:spPr>
          <a:xfrm>
            <a:off x="4228311" y="2912863"/>
            <a:ext cx="4246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YES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F6E712-BE2B-4F61-863B-478AC300B7B8}"/>
              </a:ext>
            </a:extLst>
          </p:cNvPr>
          <p:cNvSpPr txBox="1"/>
          <p:nvPr/>
        </p:nvSpPr>
        <p:spPr>
          <a:xfrm>
            <a:off x="5366133" y="3478358"/>
            <a:ext cx="4246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YES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94896C-E1DC-4174-B03E-1806A7840EDF}"/>
              </a:ext>
            </a:extLst>
          </p:cNvPr>
          <p:cNvSpPr txBox="1"/>
          <p:nvPr/>
        </p:nvSpPr>
        <p:spPr>
          <a:xfrm>
            <a:off x="4228311" y="5757104"/>
            <a:ext cx="4246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YES</a:t>
            </a:r>
            <a:endParaRPr lang="en-IN" dirty="0"/>
          </a:p>
        </p:txBody>
      </p:sp>
      <p:sp>
        <p:nvSpPr>
          <p:cNvPr id="28" name="Flowchart: Decision 27">
            <a:extLst>
              <a:ext uri="{FF2B5EF4-FFF2-40B4-BE49-F238E27FC236}">
                <a16:creationId xmlns:a16="http://schemas.microsoft.com/office/drawing/2014/main" id="{01722F45-EE34-40A4-A567-4C33F67611F7}"/>
              </a:ext>
            </a:extLst>
          </p:cNvPr>
          <p:cNvSpPr/>
          <p:nvPr/>
        </p:nvSpPr>
        <p:spPr>
          <a:xfrm>
            <a:off x="8348762" y="326090"/>
            <a:ext cx="2204617" cy="1256188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Why Stopped?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AB4E520-C6E5-4004-9991-B0609066E0B5}"/>
              </a:ext>
            </a:extLst>
          </p:cNvPr>
          <p:cNvCxnSpPr>
            <a:stCxn id="15" idx="2"/>
            <a:endCxn id="28" idx="0"/>
          </p:cNvCxnSpPr>
          <p:nvPr/>
        </p:nvCxnSpPr>
        <p:spPr>
          <a:xfrm rot="5400000" flipH="1" flipV="1">
            <a:off x="3704986" y="758411"/>
            <a:ext cx="6178406" cy="5313763"/>
          </a:xfrm>
          <a:prstGeom prst="bentConnector5">
            <a:avLst>
              <a:gd name="adj1" fmla="val -3700"/>
              <a:gd name="adj2" fmla="val 48724"/>
              <a:gd name="adj3" fmla="val 1037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440B707-845A-4A8B-A0F7-4477421CA1C7}"/>
              </a:ext>
            </a:extLst>
          </p:cNvPr>
          <p:cNvSpPr/>
          <p:nvPr/>
        </p:nvSpPr>
        <p:spPr>
          <a:xfrm>
            <a:off x="7195649" y="1803273"/>
            <a:ext cx="1259164" cy="11095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Obstacle:</a:t>
            </a:r>
          </a:p>
          <a:p>
            <a:pPr algn="ctr"/>
            <a:r>
              <a:rPr lang="en-IN" dirty="0"/>
              <a:t>Wait Until path is clear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6E3AABB-5B84-4897-8EE5-CB5A9A830BD9}"/>
              </a:ext>
            </a:extLst>
          </p:cNvPr>
          <p:cNvSpPr/>
          <p:nvPr/>
        </p:nvSpPr>
        <p:spPr>
          <a:xfrm>
            <a:off x="8822217" y="1810728"/>
            <a:ext cx="1259164" cy="110959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23F77C6-3ADD-4E93-9160-EA8327C8C241}"/>
              </a:ext>
            </a:extLst>
          </p:cNvPr>
          <p:cNvSpPr/>
          <p:nvPr/>
        </p:nvSpPr>
        <p:spPr>
          <a:xfrm>
            <a:off x="10817427" y="1796574"/>
            <a:ext cx="1259164" cy="11095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Store Room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BF1FD1DB-D3EB-480C-BD29-EBA3FBFF805A}"/>
              </a:ext>
            </a:extLst>
          </p:cNvPr>
          <p:cNvCxnSpPr>
            <a:cxnSpLocks/>
            <a:stCxn id="28" idx="2"/>
            <a:endCxn id="31" idx="0"/>
          </p:cNvCxnSpPr>
          <p:nvPr/>
        </p:nvCxnSpPr>
        <p:spPr>
          <a:xfrm rot="16200000" flipH="1">
            <a:off x="9337210" y="1696139"/>
            <a:ext cx="228450" cy="72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FC81076F-11CD-4B49-A4F0-AFDD0D219A51}"/>
              </a:ext>
            </a:extLst>
          </p:cNvPr>
          <p:cNvCxnSpPr>
            <a:cxnSpLocks/>
            <a:stCxn id="28" idx="1"/>
            <a:endCxn id="30" idx="0"/>
          </p:cNvCxnSpPr>
          <p:nvPr/>
        </p:nvCxnSpPr>
        <p:spPr>
          <a:xfrm rot="10800000" flipV="1">
            <a:off x="7825232" y="954183"/>
            <a:ext cx="523531" cy="84908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B0347EE9-B669-4F11-AEA7-C109762484AD}"/>
              </a:ext>
            </a:extLst>
          </p:cNvPr>
          <p:cNvCxnSpPr>
            <a:cxnSpLocks/>
            <a:stCxn id="28" idx="3"/>
            <a:endCxn id="32" idx="0"/>
          </p:cNvCxnSpPr>
          <p:nvPr/>
        </p:nvCxnSpPr>
        <p:spPr>
          <a:xfrm>
            <a:off x="10553379" y="954184"/>
            <a:ext cx="893630" cy="84239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Flowchart: Data 35">
            <a:extLst>
              <a:ext uri="{FF2B5EF4-FFF2-40B4-BE49-F238E27FC236}">
                <a16:creationId xmlns:a16="http://schemas.microsoft.com/office/drawing/2014/main" id="{F53F23BB-443A-49D1-801F-EC85B0684FF5}"/>
              </a:ext>
            </a:extLst>
          </p:cNvPr>
          <p:cNvSpPr/>
          <p:nvPr/>
        </p:nvSpPr>
        <p:spPr>
          <a:xfrm>
            <a:off x="8433097" y="3150917"/>
            <a:ext cx="2035941" cy="790113"/>
          </a:xfrm>
          <a:prstGeom prst="flowChartInputOutp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Verify RFID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EEA5283A-A1EF-409A-9EDD-F3AE7ED2B49E}"/>
              </a:ext>
            </a:extLst>
          </p:cNvPr>
          <p:cNvCxnSpPr>
            <a:stCxn id="31" idx="2"/>
            <a:endCxn id="36" idx="1"/>
          </p:cNvCxnSpPr>
          <p:nvPr/>
        </p:nvCxnSpPr>
        <p:spPr>
          <a:xfrm rot="5400000">
            <a:off x="9336135" y="3035252"/>
            <a:ext cx="230599" cy="73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E9675E94-E645-43DB-A501-B446C72ADF6C}"/>
              </a:ext>
            </a:extLst>
          </p:cNvPr>
          <p:cNvSpPr/>
          <p:nvPr/>
        </p:nvSpPr>
        <p:spPr>
          <a:xfrm>
            <a:off x="8720405" y="4154093"/>
            <a:ext cx="1461328" cy="1387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Unlock Respective Drawer for particular time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D23EF785-0AC0-44B7-B070-A64558358210}"/>
              </a:ext>
            </a:extLst>
          </p:cNvPr>
          <p:cNvCxnSpPr>
            <a:cxnSpLocks/>
            <a:stCxn id="36" idx="4"/>
            <a:endCxn id="38" idx="0"/>
          </p:cNvCxnSpPr>
          <p:nvPr/>
        </p:nvCxnSpPr>
        <p:spPr>
          <a:xfrm rot="16200000" flipH="1">
            <a:off x="9344537" y="4047560"/>
            <a:ext cx="213063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A09B56D7-26DC-4D66-BBE6-FD4491B7AB31}"/>
              </a:ext>
            </a:extLst>
          </p:cNvPr>
          <p:cNvSpPr/>
          <p:nvPr/>
        </p:nvSpPr>
        <p:spPr>
          <a:xfrm>
            <a:off x="8720403" y="5754916"/>
            <a:ext cx="1461328" cy="740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Lock The drawer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0DB73863-B145-47AB-BDDF-E0519D14D692}"/>
              </a:ext>
            </a:extLst>
          </p:cNvPr>
          <p:cNvCxnSpPr>
            <a:stCxn id="38" idx="2"/>
            <a:endCxn id="40" idx="0"/>
          </p:cNvCxnSpPr>
          <p:nvPr/>
        </p:nvCxnSpPr>
        <p:spPr>
          <a:xfrm rot="5400000">
            <a:off x="9344537" y="5648383"/>
            <a:ext cx="213063" cy="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017E20AD-FF8F-43B6-969A-AFCFBF33DE8C}"/>
              </a:ext>
            </a:extLst>
          </p:cNvPr>
          <p:cNvCxnSpPr>
            <a:stCxn id="40" idx="2"/>
            <a:endCxn id="6" idx="0"/>
          </p:cNvCxnSpPr>
          <p:nvPr/>
        </p:nvCxnSpPr>
        <p:spPr>
          <a:xfrm rot="5400000" flipH="1">
            <a:off x="4374736" y="1419250"/>
            <a:ext cx="4838905" cy="5313756"/>
          </a:xfrm>
          <a:prstGeom prst="bentConnector5">
            <a:avLst>
              <a:gd name="adj1" fmla="val -4724"/>
              <a:gd name="adj2" fmla="val 45267"/>
              <a:gd name="adj3" fmla="val 10246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7D570A74-51A3-401C-8305-BD23A920803F}"/>
              </a:ext>
            </a:extLst>
          </p:cNvPr>
          <p:cNvSpPr/>
          <p:nvPr/>
        </p:nvSpPr>
        <p:spPr>
          <a:xfrm>
            <a:off x="10817427" y="3150917"/>
            <a:ext cx="1259164" cy="11095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Charging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932BA15-C119-404A-AC86-EF5A0D3F3D54}"/>
              </a:ext>
            </a:extLst>
          </p:cNvPr>
          <p:cNvSpPr/>
          <p:nvPr/>
        </p:nvSpPr>
        <p:spPr>
          <a:xfrm>
            <a:off x="10817427" y="4498363"/>
            <a:ext cx="1259164" cy="110959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STOP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97E8D0E-7FB2-4C77-AF1C-591365061BF2}"/>
              </a:ext>
            </a:extLst>
          </p:cNvPr>
          <p:cNvCxnSpPr>
            <a:stCxn id="32" idx="2"/>
            <a:endCxn id="43" idx="0"/>
          </p:cNvCxnSpPr>
          <p:nvPr/>
        </p:nvCxnSpPr>
        <p:spPr>
          <a:xfrm>
            <a:off x="11447009" y="2906164"/>
            <a:ext cx="0" cy="2447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3906FB9-2AEA-49E2-83D9-0E5C2C82A47C}"/>
              </a:ext>
            </a:extLst>
          </p:cNvPr>
          <p:cNvCxnSpPr>
            <a:stCxn id="43" idx="2"/>
            <a:endCxn id="44" idx="0"/>
          </p:cNvCxnSpPr>
          <p:nvPr/>
        </p:nvCxnSpPr>
        <p:spPr>
          <a:xfrm>
            <a:off x="11447009" y="4260507"/>
            <a:ext cx="0" cy="2378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Flowchart: Magnetic Disk 46">
            <a:extLst>
              <a:ext uri="{FF2B5EF4-FFF2-40B4-BE49-F238E27FC236}">
                <a16:creationId xmlns:a16="http://schemas.microsoft.com/office/drawing/2014/main" id="{5103D817-1634-4946-843B-E119890625BA}"/>
              </a:ext>
            </a:extLst>
          </p:cNvPr>
          <p:cNvSpPr/>
          <p:nvPr/>
        </p:nvSpPr>
        <p:spPr>
          <a:xfrm>
            <a:off x="1407501" y="702858"/>
            <a:ext cx="792355" cy="790113"/>
          </a:xfrm>
          <a:prstGeom prst="flowChartMagneticDis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</a:t>
            </a:r>
          </a:p>
          <a:p>
            <a:pPr algn="ctr"/>
            <a:r>
              <a:rPr lang="en-IN" dirty="0"/>
              <a:t>Base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3830E61-BDC4-4081-9FA9-07172256EE55}"/>
              </a:ext>
            </a:extLst>
          </p:cNvPr>
          <p:cNvCxnSpPr>
            <a:stCxn id="47" idx="4"/>
            <a:endCxn id="5" idx="2"/>
          </p:cNvCxnSpPr>
          <p:nvPr/>
        </p:nvCxnSpPr>
        <p:spPr>
          <a:xfrm>
            <a:off x="2199856" y="1097915"/>
            <a:ext cx="11230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0990364E-45C2-4128-BB5C-84FB7BF7FAA5}"/>
              </a:ext>
            </a:extLst>
          </p:cNvPr>
          <p:cNvCxnSpPr>
            <a:cxnSpLocks/>
            <a:stCxn id="30" idx="2"/>
          </p:cNvCxnSpPr>
          <p:nvPr/>
        </p:nvCxnSpPr>
        <p:spPr>
          <a:xfrm rot="5400000">
            <a:off x="7225420" y="2754184"/>
            <a:ext cx="441132" cy="75849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25782A8C-3B71-48C0-8C22-FC1B6DBBA54B}"/>
              </a:ext>
            </a:extLst>
          </p:cNvPr>
          <p:cNvCxnSpPr>
            <a:stCxn id="13" idx="0"/>
            <a:endCxn id="6" idx="1"/>
          </p:cNvCxnSpPr>
          <p:nvPr/>
        </p:nvCxnSpPr>
        <p:spPr>
          <a:xfrm rot="5400000" flipH="1" flipV="1">
            <a:off x="2153791" y="1984510"/>
            <a:ext cx="580952" cy="118147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6773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73AFA-4BD9-4D50-BCE9-4E809D35A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0"/>
            <a:ext cx="10018713" cy="175259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Design and Layout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194B80C-724B-4B8B-BA3F-5C993F3A80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275" y="1442326"/>
            <a:ext cx="8482783" cy="4736825"/>
          </a:xfrm>
        </p:spPr>
      </p:pic>
    </p:spTree>
    <p:extLst>
      <p:ext uri="{BB962C8B-B14F-4D97-AF65-F5344CB8AC3E}">
        <p14:creationId xmlns:p14="http://schemas.microsoft.com/office/powerpoint/2010/main" val="379399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FDB40-EBAB-483C-B580-6DCD18D6B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Cytron</a:t>
            </a:r>
            <a:r>
              <a:rPr lang="en-IN" dirty="0"/>
              <a:t> LSA08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567BB-AD99-4BD1-9070-C50686847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6321" y="2438399"/>
            <a:ext cx="3930371" cy="276095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Features:</a:t>
            </a:r>
          </a:p>
          <a:p>
            <a:r>
              <a:rPr lang="en-IN" dirty="0"/>
              <a:t>Analog port and Digital port</a:t>
            </a:r>
          </a:p>
          <a:p>
            <a:r>
              <a:rPr lang="en-IN" dirty="0"/>
              <a:t>Line Mode(Black/White)</a:t>
            </a:r>
          </a:p>
          <a:p>
            <a:r>
              <a:rPr lang="en-IN" dirty="0"/>
              <a:t>J width</a:t>
            </a:r>
          </a:p>
          <a:p>
            <a:r>
              <a:rPr lang="en-IN" dirty="0"/>
              <a:t>Baud Rate</a:t>
            </a:r>
          </a:p>
          <a:p>
            <a:r>
              <a:rPr lang="en-IN" dirty="0"/>
              <a:t>Autocalibration</a:t>
            </a:r>
          </a:p>
          <a:p>
            <a:r>
              <a:rPr lang="en-IN" dirty="0"/>
              <a:t>Junction Pulse	</a:t>
            </a:r>
          </a:p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BAC8D6-E019-4F5C-BFAF-F8B43F868F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002" y="2130500"/>
            <a:ext cx="5041233" cy="259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250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E587E-4E9C-48F9-81A6-76582DCBD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of Sensor and code…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A827C4D-F6DF-4EB5-BE99-35C77870E9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405" y="1915729"/>
            <a:ext cx="9122524" cy="46182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F18162-CB48-4E45-97DB-DBA530E2001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7" t="9980" r="31003" b="8020"/>
          <a:stretch/>
        </p:blipFill>
        <p:spPr>
          <a:xfrm rot="5400000">
            <a:off x="9169542" y="4648580"/>
            <a:ext cx="1637901" cy="2132871"/>
          </a:xfrm>
          <a:prstGeom prst="rect">
            <a:avLst/>
          </a:prstGeom>
        </p:spPr>
      </p:pic>
      <p:sp>
        <p:nvSpPr>
          <p:cNvPr id="7" name="Arrow: Up 6">
            <a:extLst>
              <a:ext uri="{FF2B5EF4-FFF2-40B4-BE49-F238E27FC236}">
                <a16:creationId xmlns:a16="http://schemas.microsoft.com/office/drawing/2014/main" id="{46D887B8-CED7-463A-B20D-80BFD5B29C91}"/>
              </a:ext>
            </a:extLst>
          </p:cNvPr>
          <p:cNvSpPr/>
          <p:nvPr/>
        </p:nvSpPr>
        <p:spPr>
          <a:xfrm>
            <a:off x="9552372" y="3429000"/>
            <a:ext cx="781235" cy="126062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74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65862-0D47-4F25-A3DA-E001AE487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2552700"/>
            <a:ext cx="10018713" cy="1752599"/>
          </a:xfrm>
        </p:spPr>
        <p:txBody>
          <a:bodyPr/>
          <a:lstStyle/>
          <a:p>
            <a:r>
              <a:rPr lang="en-IN" dirty="0"/>
              <a:t>Communication</a:t>
            </a:r>
          </a:p>
        </p:txBody>
      </p:sp>
    </p:spTree>
    <p:extLst>
      <p:ext uri="{BB962C8B-B14F-4D97-AF65-F5344CB8AC3E}">
        <p14:creationId xmlns:p14="http://schemas.microsoft.com/office/powerpoint/2010/main" val="2891738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73039-C898-4F31-AD5F-D45C1DD21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7B800-DA2D-4360-BC36-235496256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MQTT is a Client Server publish/subscribe messaging transport protocol. </a:t>
            </a:r>
          </a:p>
          <a:p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lightweight, open, simple, and designed so as to be easy to implement. </a:t>
            </a:r>
          </a:p>
          <a:p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characteristics makes it use in Machine to Machine (M2M) and Internet of Things (IoT) contexts where a small code footprint is required and/or network bandwidth is at a premium.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1014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6B7A3-60C5-48D0-B0F8-C6EADD14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THE PUBLISH/SUBSCRIBE PATTERN</a:t>
            </a:r>
            <a:endParaRPr lang="en-IN" dirty="0"/>
          </a:p>
        </p:txBody>
      </p:sp>
      <p:pic>
        <p:nvPicPr>
          <p:cNvPr id="5" name="Google Shape;217;g96c834f6ac_0_26">
            <a:extLst>
              <a:ext uri="{FF2B5EF4-FFF2-40B4-BE49-F238E27FC236}">
                <a16:creationId xmlns:a16="http://schemas.microsoft.com/office/drawing/2014/main" id="{A057B6E5-821D-4517-A493-467BCA2A7508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45669" y="3219450"/>
            <a:ext cx="6096000" cy="2019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1642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A8D36-C59E-4842-99C5-D18C8A5C4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Tree</a:t>
            </a:r>
          </a:p>
        </p:txBody>
      </p:sp>
      <p:pic>
        <p:nvPicPr>
          <p:cNvPr id="5" name="Google Shape;232;g96c834f6ac_0_7">
            <a:extLst>
              <a:ext uri="{FF2B5EF4-FFF2-40B4-BE49-F238E27FC236}">
                <a16:creationId xmlns:a16="http://schemas.microsoft.com/office/drawing/2014/main" id="{BEE1B94B-856B-4DCF-BBFD-72C0A9E9CB7E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31880" y="2324102"/>
            <a:ext cx="7723573" cy="4191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8263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1D356-4A57-418F-B964-7910D9772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2552700"/>
            <a:ext cx="10018713" cy="175259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V-REP Simulation</a:t>
            </a:r>
          </a:p>
        </p:txBody>
      </p:sp>
    </p:spTree>
    <p:extLst>
      <p:ext uri="{BB962C8B-B14F-4D97-AF65-F5344CB8AC3E}">
        <p14:creationId xmlns:p14="http://schemas.microsoft.com/office/powerpoint/2010/main" val="2186496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0192D1F-59CD-4405-AF82-ACDED9EBB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560" y="187819"/>
            <a:ext cx="4827070" cy="31241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CB815A-5DB9-4207-B8B4-5B993289BA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0574" y="3545982"/>
            <a:ext cx="4827070" cy="3124199"/>
          </a:xfrm>
          <a:prstGeom prst="rect">
            <a:avLst/>
          </a:prstGeom>
        </p:spPr>
      </p:pic>
      <p:pic>
        <p:nvPicPr>
          <p:cNvPr id="17" name="Content Placeholder 4">
            <a:extLst>
              <a:ext uri="{FF2B5EF4-FFF2-40B4-BE49-F238E27FC236}">
                <a16:creationId xmlns:a16="http://schemas.microsoft.com/office/drawing/2014/main" id="{FE6F9348-3BDC-4340-BE22-AE42CCFF5F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987" y="187819"/>
            <a:ext cx="482707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902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310514-2D12-4084-AD2C-BF2A0B5360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02" y="248023"/>
            <a:ext cx="11698595" cy="636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927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19055-6E76-4B78-8E0E-BDEC9E5C2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Actual Implementation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BF1CA3D3-2EF6-45B5-B838-6AC58F8188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310" y="1939031"/>
            <a:ext cx="3905531" cy="2821950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72EB34A-2FC3-478D-A09E-C70A9B6ABD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29" b="28407"/>
          <a:stretch/>
        </p:blipFill>
        <p:spPr>
          <a:xfrm>
            <a:off x="4135663" y="4897514"/>
            <a:ext cx="4716007" cy="175259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52F2592-33B0-4F8E-BF0F-A7231A2AE12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46" r="28587"/>
          <a:stretch/>
        </p:blipFill>
        <p:spPr>
          <a:xfrm rot="5400000">
            <a:off x="8139284" y="1397240"/>
            <a:ext cx="2821951" cy="3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799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19F84-6B0E-4856-A922-42A0B90F0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088" y="2552700"/>
            <a:ext cx="10018713" cy="1752599"/>
          </a:xfrm>
        </p:spPr>
        <p:txBody>
          <a:bodyPr/>
          <a:lstStyle/>
          <a:p>
            <a:r>
              <a:rPr lang="en-IN" dirty="0"/>
              <a:t>Videos...</a:t>
            </a:r>
          </a:p>
        </p:txBody>
      </p:sp>
    </p:spTree>
    <p:extLst>
      <p:ext uri="{BB962C8B-B14F-4D97-AF65-F5344CB8AC3E}">
        <p14:creationId xmlns:p14="http://schemas.microsoft.com/office/powerpoint/2010/main" val="52682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28103-2DA4-4B7C-8049-98045FCC4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Problems Faced…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894D4-63ED-4EF4-ADCE-B77092FAC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Weight</a:t>
            </a:r>
          </a:p>
          <a:p>
            <a:r>
              <a:rPr lang="en-IN" dirty="0"/>
              <a:t>Wheels</a:t>
            </a:r>
          </a:p>
          <a:p>
            <a:r>
              <a:rPr lang="en-IN" dirty="0"/>
              <a:t>Not availability of Industrial Sensor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46388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E9C2D-8622-4444-87E2-A21D6DF8D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Solutions for problems…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3B410-D2B0-4979-A55B-0738FACE2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 of Caster wheel</a:t>
            </a:r>
          </a:p>
          <a:p>
            <a:r>
              <a:rPr lang="en-IN" dirty="0"/>
              <a:t>Making of light weight chassis</a:t>
            </a:r>
          </a:p>
          <a:p>
            <a:r>
              <a:rPr lang="en-IN" dirty="0"/>
              <a:t>Industrial sensor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5556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646AA-BF9E-4467-8198-6BDBB456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C5E98-CBE1-4229-868C-DB374ECE9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Delivery of parts/tools in production line</a:t>
            </a:r>
          </a:p>
          <a:p>
            <a:r>
              <a:rPr lang="en-IN" dirty="0"/>
              <a:t>Delivery of finished products</a:t>
            </a:r>
          </a:p>
          <a:p>
            <a:r>
              <a:rPr lang="en-IN" dirty="0"/>
              <a:t>Waste management</a:t>
            </a:r>
          </a:p>
          <a:p>
            <a:r>
              <a:rPr lang="en-IN" dirty="0"/>
              <a:t>Conveyor pick-up/Dropped facilities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92338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83E9C-F565-454B-80E7-90E8BBBE2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90206-31C1-4215-9D48-141B9D1BD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https://www.coppeliarobotics.com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IN" u="sng" dirty="0">
                <a:hlinkClick r:id="rId3"/>
              </a:rPr>
              <a:t>https://www.hivemq.com/blog/mqtt-essentials-part-1-introducing-mqtt/</a:t>
            </a:r>
            <a:endParaRPr lang="en-IN" u="sng" dirty="0"/>
          </a:p>
          <a:p>
            <a:r>
              <a:rPr lang="en-US" dirty="0">
                <a:hlinkClick r:id="rId4"/>
              </a:rPr>
              <a:t>Advanced Auto-Calibrating Line Sensor (cytron.io)</a:t>
            </a:r>
            <a:endParaRPr lang="en-IN" u="sng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87355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00672-3DF3-4503-BB0E-A13BA4F4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2552700"/>
            <a:ext cx="10018713" cy="175259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238899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1979</TotalTime>
  <Words>477</Words>
  <Application>Microsoft Office PowerPoint</Application>
  <PresentationFormat>Widescreen</PresentationFormat>
  <Paragraphs>116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Corbel</vt:lpstr>
      <vt:lpstr>Times New Roman</vt:lpstr>
      <vt:lpstr>Wingdings 3</vt:lpstr>
      <vt:lpstr>Parallax</vt:lpstr>
      <vt:lpstr>Bansilal Ramnath Agarwal Charitable Trust’s Vishwakarma Institute of Information Technology, Pune   Department of Electronics and Telecommunications </vt:lpstr>
      <vt:lpstr>Content </vt:lpstr>
      <vt:lpstr>Introduction</vt:lpstr>
      <vt:lpstr>Objective</vt:lpstr>
      <vt:lpstr>Methodology</vt:lpstr>
      <vt:lpstr>PowerPoint Presentation</vt:lpstr>
      <vt:lpstr>Electronic Design and Layout</vt:lpstr>
      <vt:lpstr>Cytron LSA08</vt:lpstr>
      <vt:lpstr>Working of Sensor and code…</vt:lpstr>
      <vt:lpstr>Communication</vt:lpstr>
      <vt:lpstr>MQTT</vt:lpstr>
      <vt:lpstr>THE PUBLISH/SUBSCRIBE PATTERN</vt:lpstr>
      <vt:lpstr>Message Tree</vt:lpstr>
      <vt:lpstr>V-REP Simulation</vt:lpstr>
      <vt:lpstr>PowerPoint Presentation</vt:lpstr>
      <vt:lpstr>PowerPoint Presentation</vt:lpstr>
      <vt:lpstr>Actual Implementation</vt:lpstr>
      <vt:lpstr>Videos...</vt:lpstr>
      <vt:lpstr>Problems Faced…</vt:lpstr>
      <vt:lpstr>Solutions for problems…</vt:lpstr>
      <vt:lpstr>Applications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Bansilal Ramnath Agarwal Charitable Trust’s Vishwakarma Institute of Information Technology, Pune   Department of Electronics and Telecommunications</dc:title>
  <dc:creator>Mayuresh Takawane</dc:creator>
  <cp:lastModifiedBy>Mayuresh Takawane</cp:lastModifiedBy>
  <cp:revision>174</cp:revision>
  <dcterms:created xsi:type="dcterms:W3CDTF">2020-10-15T15:49:20Z</dcterms:created>
  <dcterms:modified xsi:type="dcterms:W3CDTF">2021-06-10T04:39:36Z</dcterms:modified>
</cp:coreProperties>
</file>