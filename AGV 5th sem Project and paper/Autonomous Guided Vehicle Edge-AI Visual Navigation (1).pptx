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JetBrains Mono"/>
      <ns0:bold ns1:id="rIdFont18"/>
      <ns0:regular ns1:id="rIdFont19"/>
    </ns0:embeddedFont>
    <ns0:embeddedFont>
      <ns0:font typeface="Inter"/>
      <ns0:italic ns1:id="rIdFont20"/>
      <ns0:bold ns1:id="rIdFont21"/>
      <ns0:regular ns1:id="rIdFont22"/>
    </ns0:embeddedFont>
    <ns0:embeddedFont>
      <ns0:font typeface="Space Grotesk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644bbab3-362b-43e2-941e-415ec05c35bf.fntdata" /><ns0:Relationship Id="rIdFont19" Type="http://schemas.openxmlformats.org/officeDocument/2006/relationships/font" Target="fonts/2ae72ff9-a230-4ad1-9b41-f375176fd01c.fntdata" /><ns0:Relationship Id="rIdFont20" Type="http://schemas.openxmlformats.org/officeDocument/2006/relationships/font" Target="fonts/0633b378-af58-4f00-8df6-538adede7e0d.fntdata" /><ns0:Relationship Id="rIdFont21" Type="http://schemas.openxmlformats.org/officeDocument/2006/relationships/font" Target="fonts/41c4ffd9-f72d-43ce-b55f-f240bd4bfb5f.fntdata" /><ns0:Relationship Id="rIdFont22" Type="http://schemas.openxmlformats.org/officeDocument/2006/relationships/font" Target="fonts/ad06b273-b6e5-4ad4-ba1e-5c824f84d21a.fntdata" /><ns0:Relationship Id="rIdFont23" Type="http://schemas.openxmlformats.org/officeDocument/2006/relationships/font" Target="fonts/b7e3754f-8391-4666-a85c-17815dbd271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638800"/>
            <a:ext cx="106680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4264967"/>
            <a:ext cx="685800" cy="381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388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09600"/>
            <a:ext cx="2835622" cy="276225"/>
          </a:xfrm>
          <a:prstGeom prst="roundRect">
            <a:avLst>
              <a:gd name="adj" fmla="val 20689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666750"/>
            <a:ext cx="2571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NVIDIA Jetson Nano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21557"/>
            <a:ext cx="9901237" cy="1033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1"/>
              </a:lnSpc>
            </a:pPr>
            <a:r>
              <a:rPr b="1" sz="3450" i="0" u="none">
                <a:solidFill>
                  <a:srgbClr val="F8FAFC"/>
                </a:solidFill>
                <a:latin typeface="Space Grotesk"/>
              </a:rPr>
              <a:t>Latency-Compensated Edge-AI Visual Path Tracking for AGVs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45817"/>
            <a:ext cx="7905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Robust Navigation Under High-Bay Specular Glare and Degraded Floor Markings via Sim-to-Real Domain Randomization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666750"/>
            <a:ext cx="266417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AUTONOMOUS ROBOTICS &amp; EDGE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1922" y="671512"/>
            <a:ext cx="3238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4322" y="671512"/>
            <a:ext cx="1857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Applied Research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876925"/>
            <a:ext cx="5453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284C7"/>
                </a:solidFill>
                <a:latin typeface="JetBrains Mono"/>
              </a:rPr>
              <a:t>ENGINEERING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67425"/>
            <a:ext cx="5453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Mechatronics, Computer Vision &amp; Embedded AI Research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7625" y="5895975"/>
            <a:ext cx="3762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64748B"/>
                </a:solidFill>
                <a:latin typeface="JetBrains Mono"/>
              </a:rPr>
              <a:t>Target Publication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7625" y="6086475"/>
            <a:ext cx="3762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050" i="0" u="none">
                <a:solidFill>
                  <a:srgbClr val="94A3B8"/>
                </a:solidFill>
                <a:latin typeface="Inter"/>
              </a:rPr>
              <a:t>IEEE Transactions on Industrial Informatics / 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20200" y="457200"/>
            <a:ext cx="22860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58903"/>
            <a:ext cx="10820400" cy="762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403871"/>
            <a:ext cx="3479750" cy="1926431"/>
          </a:xfrm>
          <a:prstGeom prst="roundRect">
            <a:avLst>
              <a:gd name="adj" fmla="val 59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56050" y="2403871"/>
            <a:ext cx="3479750" cy="1926431"/>
          </a:xfrm>
          <a:prstGeom prst="roundRect">
            <a:avLst>
              <a:gd name="adj" fmla="val 59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300" y="2403871"/>
            <a:ext cx="3479750" cy="1926431"/>
          </a:xfrm>
          <a:prstGeom prst="roundRect">
            <a:avLst>
              <a:gd name="adj" fmla="val 59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41996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2641996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425" y="2641996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2746771"/>
            <a:ext cx="19050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425" y="2746771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9200" y="2746771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72600" y="533400"/>
            <a:ext cx="2076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Inter"/>
              </a:rPr>
              <a:t>Industry 4.0 Material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"/>
            <a:ext cx="626566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CONTEXT &amp; 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76275"/>
            <a:ext cx="657894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Introduction to Vision-Guided AGVs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749403"/>
            <a:ext cx="8710463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Key Objective: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 Enable zero-derailment visual path following at speeds exceeding 1.0 m/s on degraded industrial floors.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7713" y="4777978"/>
            <a:ext cx="176703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Target Latency &lt; 30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175396"/>
            <a:ext cx="394209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Shop-Floor Determinism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470671"/>
            <a:ext cx="30987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Predictable clearance margins and guaranteed trajectories in human-robot collaboration zones.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175" y="3175396"/>
            <a:ext cx="394209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Monocular Optical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175" y="3470671"/>
            <a:ext cx="30987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Cost-effective foresight tracking replacing inflexible magnetic tape and floor-buried inductive wires.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425" y="3175396"/>
            <a:ext cx="39275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Edge-Compute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4425" y="3470671"/>
            <a:ext cx="30987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Deploying intelligent real-time deep neural perception on compact 5W–10W single-board computers.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24950" y="457200"/>
            <a:ext cx="2381250" cy="295275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424112"/>
            <a:ext cx="10820400" cy="2838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424112"/>
          <a:ext cx="10810873" cy="2838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68339"/>
                <a:gridCol w="2146548"/>
                <a:gridCol w="2248197"/>
                <a:gridCol w="3747789"/>
              </a:tblGrid>
              <a:tr h="5676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8FAFC"/>
                          </a:solidFill>
                          <a:latin typeface="Inter"/>
                        </a:rPr>
                        <a:t>Methodology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8FAFC"/>
                          </a:solidFill>
                          <a:latin typeface="Inter"/>
                        </a:rPr>
                        <a:t>Representative Studies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8FAFC"/>
                          </a:solidFill>
                          <a:latin typeface="Inter"/>
                        </a:rPr>
                        <a:t>Operational Strengths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8FAFC"/>
                          </a:solidFill>
                          <a:latin typeface="Inter"/>
                        </a:rPr>
                        <a:t>Identified Deficiencies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Classical Heuristics (Otsu, Canny, Hough)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Borenstein et al., Zheng et 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Inter"/>
                        </a:rPr>
                        <a:t>Minimal compute (&lt;15 ms on CPU)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Inter"/>
                        </a:rPr>
                        <a:t>Catastrophic failure under specular epoxy glare and scuffs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Dense Segmentation (UNet, DeepLab, SCNN)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Neven et al. (LaneNet), Chen et 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Inter"/>
                        </a:rPr>
                        <a:t>High pixel-level contextual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Inter"/>
                        </a:rPr>
                        <a:t>Heavy compute footprint (&gt;110 ms), thermal throttling on Nano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Automotive Structural Lane Detection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Qin et al. (UFLD), Xu et 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Inter"/>
                        </a:rPr>
                        <a:t>Sub-20 ms row-anchor 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Inter"/>
                        </a:rPr>
                        <a:t>Tuned for diffuse asphalt; fails on glossy non-Lambertian factory floors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76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Inter"/>
                        </a:rPr>
                        <a:t>Sim-to-Real Mobile Robotics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Tobin et al., Sadeghi et 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6A34A"/>
                          </a:solidFill>
                          <a:latin typeface="Inter"/>
                        </a:rPr>
                        <a:t>Zero-cost training data synthesis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DC2626"/>
                          </a:solidFill>
                          <a:latin typeface="Inter"/>
                        </a:rPr>
                        <a:t>Neglects transport delay coupling with non-holonomic kinematics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239250" y="514350"/>
            <a:ext cx="2247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Taxonomy of Existing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463599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STATE OF THE 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275"/>
            <a:ext cx="486779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Detailed Literature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53550" y="457200"/>
            <a:ext cx="2152650" cy="295275"/>
          </a:xfrm>
          <a:prstGeom prst="roundRect">
            <a:avLst>
              <a:gd name="adj" fmla="val 19354"/>
            </a:avLst>
          </a:prstGeom>
          <a:solidFill>
            <a:srgbClr val="FEF2F2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75371"/>
            <a:ext cx="3479750" cy="1774031"/>
          </a:xfrm>
          <a:prstGeom prst="roundRect">
            <a:avLst>
              <a:gd name="adj" fmla="val 64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975371"/>
            <a:ext cx="3479750" cy="1774031"/>
          </a:xfrm>
          <a:prstGeom prst="roundRect">
            <a:avLst>
              <a:gd name="adj" fmla="val 64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871787"/>
            <a:ext cx="347975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67850" y="514350"/>
            <a:ext cx="2019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C2626"/>
                </a:solidFill>
                <a:latin typeface="JetBrains Mono"/>
              </a:rPr>
              <a:t>Three Unsolved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242071"/>
            <a:ext cx="3041600" cy="1240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GAP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750" y="3242071"/>
            <a:ext cx="3041600" cy="1240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GAP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000" y="3138487"/>
            <a:ext cx="3041600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GAP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"/>
            <a:ext cx="441293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CRITICAL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76275"/>
            <a:ext cx="4633586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Identified Research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537346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Photometric Glare &amp; Abrasion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51671"/>
            <a:ext cx="30225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Overhead high-bay lights create saturated specular lobes on epoxy floors that blind thresholding and edge filters.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537346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Uncompensated Transport 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851671"/>
            <a:ext cx="30225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Perception delays (100–140 ms) introduce severe phase lag, triggering dynamic hunting oscillations at higher velocities.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3433762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Sim-to-Real Photometric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525" y="3748087"/>
            <a:ext cx="30225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Simulators assume pristine lines and Lambertian reflection, causing 20–50% accuracy drops during physical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20200" y="457200"/>
            <a:ext cx="2286000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638425"/>
            <a:ext cx="10820400" cy="1162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3790950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638425"/>
            <a:ext cx="1082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638425"/>
            <a:ext cx="38100" cy="1162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96675" y="2638425"/>
            <a:ext cx="9525" cy="1162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990975"/>
            <a:ext cx="3505200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3990975"/>
            <a:ext cx="3505200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01000" y="3990975"/>
            <a:ext cx="3505200" cy="1095375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34500" y="514350"/>
            <a:ext cx="2152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Mathematical &amp; System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3406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FORMAL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76275"/>
            <a:ext cx="357700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857500"/>
            <a:ext cx="112014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Core Research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3124200"/>
            <a:ext cx="103346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How can a computationally constrained single-board computer (NVIDIA Jetson Nano) achieve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sub-centimeter path tracking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on highly specular, degraded factory floors at speeds up to 1.2 m/s without exceeding a 30 ms perception-to-actuation transport delay?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171950"/>
            <a:ext cx="3929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CONSTRAINT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4362450"/>
            <a:ext cx="412551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Compute &amp; Thermal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4581525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Max 10W power envelope, 4GB unified memory, 128 Maxwell GPU cores.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4375" y="4171950"/>
            <a:ext cx="3929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CONSTRAINT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4375" y="4362450"/>
            <a:ext cx="412551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Environmental 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375" y="4581525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Direct specular glare (1400 lux) and up to 40% guide line wear.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1975" y="4171950"/>
            <a:ext cx="3929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CONSTRAINT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1975" y="4362450"/>
            <a:ext cx="4010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Space Grotesk"/>
              </a:rPr>
              <a:t>Closed-Loop Stability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1975" y="4581525"/>
            <a:ext cx="3238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Zero oscillation hunting along sharp curve entries (R = 0.75 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29800" y="457200"/>
            <a:ext cx="167640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101429"/>
            <a:ext cx="2590800" cy="1521916"/>
          </a:xfrm>
          <a:prstGeom prst="roundRect">
            <a:avLst>
              <a:gd name="adj" fmla="val 62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9000" y="3101429"/>
            <a:ext cx="2590800" cy="1521916"/>
          </a:xfrm>
          <a:prstGeom prst="roundRect">
            <a:avLst>
              <a:gd name="adj" fmla="val 62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101429"/>
            <a:ext cx="2590800" cy="1521916"/>
          </a:xfrm>
          <a:prstGeom prst="roundRect">
            <a:avLst>
              <a:gd name="adj" fmla="val 62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15400" y="3008114"/>
            <a:ext cx="2590800" cy="1708546"/>
          </a:xfrm>
          <a:prstGeom prst="roundRect">
            <a:avLst>
              <a:gd name="adj" fmla="val 55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44100" y="514350"/>
            <a:ext cx="1543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JetBrains Mono"/>
              </a:rPr>
              <a:t>End-to-End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310979"/>
            <a:ext cx="2266950" cy="11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8550" y="3310979"/>
            <a:ext cx="2266950" cy="11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3310979"/>
            <a:ext cx="2266950" cy="110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4950" y="3217664"/>
            <a:ext cx="2266950" cy="12894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STAGE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7040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76275"/>
            <a:ext cx="73925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Methodology Planned: 4-Stage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587204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SICT Glare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875" y="3844379"/>
            <a:ext cx="22479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Decouples specular reflectance from diffuse color using chromaticity coordinates (r,g,b).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075" y="3587204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TensorRT FP16 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075" y="3844379"/>
            <a:ext cx="22479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ShuffleNetV2 predicts 1D lateral coordinates across horizontal anchor rows in sub-17 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87204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Dead-Reckoning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844379"/>
            <a:ext cx="22479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Projects vehicle position forward by latency τ using wheel encoder and IMU kinematics.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475" y="3493889"/>
            <a:ext cx="282535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Adaptive Pure Pursuit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475" y="3751064"/>
            <a:ext cx="224790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Computes precise curvature and differential wheel velocities to track the future look-ahead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24950" y="457200"/>
            <a:ext cx="2381250" cy="295275"/>
          </a:xfrm>
          <a:prstGeom prst="roundRect">
            <a:avLst>
              <a:gd name="adj" fmla="val 1935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04207"/>
            <a:ext cx="5314950" cy="1062930"/>
          </a:xfrm>
          <a:prstGeom prst="roundRect">
            <a:avLst>
              <a:gd name="adj" fmla="val 89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704207"/>
            <a:ext cx="5314950" cy="1062930"/>
          </a:xfrm>
          <a:prstGeom prst="roundRect">
            <a:avLst>
              <a:gd name="adj" fmla="val 89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3957637"/>
            <a:ext cx="5314950" cy="1062930"/>
          </a:xfrm>
          <a:prstGeom prst="roundRect">
            <a:avLst>
              <a:gd name="adj" fmla="val 89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3957637"/>
            <a:ext cx="5314950" cy="1062930"/>
          </a:xfrm>
          <a:prstGeom prst="roundRect">
            <a:avLst>
              <a:gd name="adj" fmla="val 89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28044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2928044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181475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4181475"/>
            <a:ext cx="1143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39250" y="514350"/>
            <a:ext cx="2247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A34A"/>
                </a:solidFill>
                <a:latin typeface="JetBrains Mono"/>
              </a:rPr>
              <a:t>Hardware &amp; Simulation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"/>
            <a:ext cx="733145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CURRENT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76275"/>
            <a:ext cx="769803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Implementation Till Date &amp; Current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180457"/>
            <a:ext cx="50101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Chassis fabricated with dual DC gearmotors, TB6612FNG driver, optical encoders, and Sony IMX219 CSI camera mounted at a 28.5° downward pitch.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180457"/>
            <a:ext cx="50101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Ubuntu 18.04 LTS, JetPack 4.6, and TensorRT compiled. High-efficiency 5V/4A buck converter verified to eliminate GPU voltage brownouts.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433887"/>
            <a:ext cx="50101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Virtual robot calibrated to physical dimensions. ZeroMQ bridge active for joint control and synthetic frame generation with dynamic lighting.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4433887"/>
            <a:ext cx="50101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Training ShuffleNetV2 anchor model on synthesized dataset and fine-tuning encoder dead-reckoning state projection for closed-loop runs.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425" y="2904232"/>
            <a:ext cx="29849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Physical AGV Chassis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2904232"/>
            <a:ext cx="342249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Embedded Jetson Nano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4157662"/>
            <a:ext cx="222938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CoppeliaSim Digital Twin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4157662"/>
            <a:ext cx="387411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In Progress: Edge Model &amp; Latency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06000" y="457200"/>
            <a:ext cx="1600200" cy="276225"/>
          </a:xfrm>
          <a:prstGeom prst="roundRect">
            <a:avLst>
              <a:gd name="adj" fmla="val 2068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964781"/>
            <a:ext cx="10820400" cy="814387"/>
          </a:xfrm>
          <a:prstGeom prst="roundRect">
            <a:avLst>
              <a:gd name="adj" fmla="val 11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756" y="3055143"/>
            <a:ext cx="9525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1237" y="3055143"/>
            <a:ext cx="9525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8718" y="3055143"/>
            <a:ext cx="9525" cy="571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25767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20300" y="514350"/>
            <a:ext cx="1466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Evaluation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"/>
            <a:ext cx="60427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TARGET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76275"/>
            <a:ext cx="634493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Projected Benchmark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825" y="4164806"/>
            <a:ext cx="101346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Research Publication Significance: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Demonstrating these quantitative benchmarks against Canny-PID and UNet baselines directly addresses IEEE criteria for rigorous edge mechatronics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555" y="2945606"/>
            <a:ext cx="337244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Inter"/>
              </a:rPr>
              <a:t>28.7</a:t>
            </a:r>
            <a:r>
              <a:rPr b="1" sz="2100" i="0" u="none">
                <a:solidFill>
                  <a:srgbClr val="0284C7"/>
                </a:solidFill>
                <a:latin typeface="Inter"/>
              </a:rPr>
              <a:t>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555" y="3555206"/>
            <a:ext cx="337244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End-to-End Latency (&gt;34 FPS)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6036" y="2945606"/>
            <a:ext cx="337244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Inter"/>
              </a:rPr>
              <a:t>0.94</a:t>
            </a:r>
            <a:r>
              <a:rPr b="1" sz="2100" i="0" u="none">
                <a:solidFill>
                  <a:srgbClr val="0F172A"/>
                </a:solidFill>
                <a:latin typeface="Inter"/>
              </a:rPr>
              <a:t> 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6036" y="3555206"/>
            <a:ext cx="337244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Tracking Error Under Glare (RMSE)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3517" y="2945606"/>
            <a:ext cx="337244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Inter"/>
              </a:rPr>
              <a:t>96.8</a:t>
            </a:r>
            <a:r>
              <a:rPr b="1" sz="2100" i="0" u="none">
                <a:solidFill>
                  <a:srgbClr val="0284C7"/>
                </a:solidFill>
                <a:latin typeface="Inter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3517" y="3555206"/>
            <a:ext cx="337244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F1 Detection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0999" y="2945606"/>
            <a:ext cx="3372445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16A34A"/>
                </a:solidFill>
                <a:latin typeface="Inter"/>
              </a:rPr>
              <a:t>&lt; 4</a:t>
            </a:r>
            <a:r>
              <a:rPr b="1" sz="2100" i="0" u="none">
                <a:solidFill>
                  <a:srgbClr val="16A34A"/>
                </a:solidFill>
                <a:latin typeface="Inter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0999" y="3555206"/>
            <a:ext cx="337244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Sim-to-Real Transfer 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48800" y="457200"/>
            <a:ext cx="2057400" cy="276225"/>
          </a:xfrm>
          <a:prstGeom prst="roundRect">
            <a:avLst>
              <a:gd name="adj" fmla="val 2068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32211"/>
            <a:ext cx="3479750" cy="1860202"/>
          </a:xfrm>
          <a:prstGeom prst="roundRect">
            <a:avLst>
              <a:gd name="adj" fmla="val 61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759422"/>
            <a:ext cx="3479750" cy="2205930"/>
          </a:xfrm>
          <a:prstGeom prst="roundRect">
            <a:avLst>
              <a:gd name="adj" fmla="val 5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932211"/>
            <a:ext cx="3479750" cy="1860202"/>
          </a:xfrm>
          <a:prstGeom prst="roundRect">
            <a:avLst>
              <a:gd name="adj" fmla="val 61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70336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2997547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425" y="3170336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3265586"/>
            <a:ext cx="1905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375" y="3092797"/>
            <a:ext cx="1905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150" y="3265586"/>
            <a:ext cx="1714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63100" y="514350"/>
            <a:ext cx="1924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JetBrains Mono"/>
              </a:rPr>
              <a:t>Applied Commercial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"/>
            <a:ext cx="80739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INDUSTRIAL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76275"/>
            <a:ext cx="847762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Industry Sectors &amp; Deployment 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46586"/>
            <a:ext cx="394209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Automotive Assembly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41861"/>
            <a:ext cx="3754375" cy="1933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Tata Motors, Mahindra &amp; Mahindra, Bajaj Auto.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249489"/>
            <a:ext cx="309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Heavy forklift traffic, highly polished resin floors, and intensive overhead LED lighting arrays.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175" y="3473797"/>
            <a:ext cx="394209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E-Commerce &amp; Warehousing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175" y="3769072"/>
            <a:ext cx="3098750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Amazon Fulfillment, Flipkart, Delhivery Logistics.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175" y="4270027"/>
            <a:ext cx="3098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High-throughput material sortation where tape wears off rapidly along high-traffic corridor intersections.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4425" y="3646586"/>
            <a:ext cx="392757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Pharma Cleanrooms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425" y="3941861"/>
            <a:ext cx="3754375" cy="1933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Serum Institute of India, Sun Pharma, Cipla.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4425" y="4249489"/>
            <a:ext cx="30987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Ultra-glossy hygienic epoxy surfaces requiring zero physical alterations or metallic tracks.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429750" y="457200"/>
            <a:ext cx="2076450" cy="295275"/>
          </a:xfrm>
          <a:prstGeom prst="roundRect">
            <a:avLst>
              <a:gd name="adj" fmla="val 193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060525"/>
            <a:ext cx="10820400" cy="659010"/>
          </a:xfrm>
          <a:prstGeom prst="roundRect">
            <a:avLst>
              <a:gd name="adj" fmla="val 11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833836"/>
            <a:ext cx="10820400" cy="659010"/>
          </a:xfrm>
          <a:prstGeom prst="roundRect">
            <a:avLst>
              <a:gd name="adj" fmla="val 11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3607147"/>
            <a:ext cx="10820400" cy="659010"/>
          </a:xfrm>
          <a:prstGeom prst="roundRect">
            <a:avLst>
              <a:gd name="adj" fmla="val 11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4380458"/>
            <a:ext cx="10820400" cy="659010"/>
          </a:xfrm>
          <a:prstGeom prst="roundRect">
            <a:avLst>
              <a:gd name="adj" fmla="val 1156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5153769"/>
            <a:ext cx="10820400" cy="472380"/>
          </a:xfrm>
          <a:prstGeom prst="roundRect">
            <a:avLst>
              <a:gd name="adj" fmla="val 161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4050" y="514350"/>
            <a:ext cx="1943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Peer-Reviewed Literature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"/>
            <a:ext cx="272708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ACADEMIC GROUNDING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76275"/>
            <a:ext cx="286344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Key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203400"/>
            <a:ext cx="105156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[1] Z. Qin et al.,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 "Ultra Fast Structure-aware Deep Lane Detection," in </a:t>
            </a:r>
            <a:r>
              <a:rPr b="0" sz="1050" i="1" u="none">
                <a:solidFill>
                  <a:srgbClr val="1E293B"/>
                </a:solidFill>
                <a:latin typeface="Inter"/>
              </a:rPr>
              <a:t>European Conference on Computer Vision (ECCV)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, 2020. [Row-anchor formulation &amp; structural loss formulation]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76711"/>
            <a:ext cx="105156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[2] J. Tobin et al.,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 "Domain Randomization for Transferring Deep Neural Networks from Simulation to the Real World," in </a:t>
            </a:r>
            <a:r>
              <a:rPr b="0" sz="1050" i="1" u="none">
                <a:solidFill>
                  <a:srgbClr val="1E293B"/>
                </a:solidFill>
                <a:latin typeface="Inter"/>
              </a:rPr>
              <a:t>IEEE/RSJ IROS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, 2017. [Procedural lighting and texture variation]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50022"/>
            <a:ext cx="105156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[3] R. Coulter,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 "Implementation of the Pure Pursuit Path Tracking Algorithm," Carnegie Mellon University, Tech. Rep. CMU-RI-TR-92-01, 1992. [Kinematic lateral steering mechanics]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523333"/>
            <a:ext cx="1051560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[4] M. Boada et al.,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 "Vision-Based Path Following for Mobile Robots With Latency Compensation," </a:t>
            </a:r>
            <a:r>
              <a:rPr b="0" sz="1050" i="1" u="none">
                <a:solidFill>
                  <a:srgbClr val="1E293B"/>
                </a:solidFill>
                <a:latin typeface="Inter"/>
              </a:rPr>
              <a:t>IEEE Trans. on Intelligent Transportation Systems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, vol. 18, no. 6, 2017. [Transport delay state projection]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5296644"/>
            <a:ext cx="1130617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[5] E. Rohmer et al.,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 "CoppeliaSim: A versatile and modular robot simulation framework," in </a:t>
            </a:r>
            <a:r>
              <a:rPr b="0" sz="1050" i="1" u="none">
                <a:solidFill>
                  <a:srgbClr val="1E293B"/>
                </a:solidFill>
                <a:latin typeface="Inter"/>
              </a:rPr>
              <a:t>IEEE/RSJ IROS</a:t>
            </a:r>
            <a:r>
              <a:rPr b="0" sz="1050" i="0" u="none">
                <a:solidFill>
                  <a:srgbClr val="1E293B"/>
                </a:solidFill>
                <a:latin typeface="Inter"/>
              </a:rPr>
              <a:t>, 2013. [ZeroMQ digital twin architecture]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886450"/>
            <a:ext cx="106680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8864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609600"/>
            <a:ext cx="1772691" cy="276225"/>
          </a:xfrm>
          <a:prstGeom prst="roundRect">
            <a:avLst>
              <a:gd name="adj" fmla="val 20689"/>
            </a:avLst>
          </a:prstGeom>
          <a:solidFill>
            <a:srgbClr val="0E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3195637"/>
            <a:ext cx="5219700" cy="1743075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195637"/>
            <a:ext cx="5219700" cy="1743075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4024312"/>
            <a:ext cx="1905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281487"/>
            <a:ext cx="1905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4538662"/>
            <a:ext cx="1905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0" y="666750"/>
            <a:ext cx="2857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Autonomous Robotics Laboratory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833562"/>
            <a:ext cx="11430000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F8FAFC"/>
                </a:solidFill>
                <a:latin typeface="Space Grotesk"/>
              </a:rPr>
              <a:t>Project Contact &amp; Coordination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452687"/>
            <a:ext cx="6762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Reach out for technical documentation, simulation models, dataset repositories, and research collaboration.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086475"/>
            <a:ext cx="4286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Autonomous Guided Vehicle Research Initiative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3600" y="6086475"/>
            <a:ext cx="209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284C7"/>
                </a:solidFill>
                <a:latin typeface="JetBrains Mono"/>
              </a:rPr>
              <a:t>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666750"/>
            <a:ext cx="160124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8BDF8"/>
                </a:solidFill>
                <a:latin typeface="JetBrains Mono"/>
              </a:rPr>
              <a:t>PROJECT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433762"/>
            <a:ext cx="5929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TEAM LEAD / POINT OF 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643312"/>
            <a:ext cx="622577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Project 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433762"/>
            <a:ext cx="5743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JetBrains Mono"/>
              </a:rPr>
              <a:t>TEAM SPECIALIZATIONS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643312"/>
            <a:ext cx="5743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Space Grotesk"/>
              </a:rPr>
              <a:t>3-Member Sprint Division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4005262"/>
            <a:ext cx="5929312" cy="18097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+91 98765 43210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262437"/>
            <a:ext cx="5929312" cy="18097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agv.edgevision.research@gmail.com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519612"/>
            <a:ext cx="5929312" cy="18097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Inter"/>
              </a:rPr>
              <a:t>Robotics &amp; AI Lab, Department of Mechatronics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4005262"/>
            <a:ext cx="57435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Member 1: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Hardware, Motor PWM, Kinematics &amp; Pure Pursuit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4243387"/>
            <a:ext cx="57435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Member 2: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Jetson Nano, TensorRT FP16, SICT &amp; CSI Camera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8425" y="4481512"/>
            <a:ext cx="57435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Member 3:</a:t>
            </a:r>
            <a:r>
              <a:rPr b="0" sz="1050" i="0" u="none">
                <a:solidFill>
                  <a:srgbClr val="CBD5E1"/>
                </a:solidFill>
                <a:latin typeface="Inter"/>
              </a:rPr>
              <a:t> CoppeliaSim Twin, Domain Randomization &amp; Logging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